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I'm your Offerloop campus ambassador. Offerloop is a fully autonomous job-search assistant, and in the next five minutes I'm going to show you why you need it and get it running on your own laptop. Open Chrome and follow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search usually goes. You find a posting, you tweak your résumé, you hit submit, and then nothing. You're application number four thousand in a stack of twelve thousand, and no human ever sees it. Applying harder doesn't fix this. The résumé pile is not where you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a number. The average entry-level role at one of the 50 biggest companies in the world gets around twelve thousand applicants. Twelve thousand. These are the logos on this wall, the places you actually want to work. So sending in a résumé and hoping? You're one in twelve thousand. The real question is: how do you stand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actually get in? Through people. You are 52 times more likely to get hired through a referral or a personal connection than a cold application. But here's the catch, fewer than one percent of applicants ever get that referral. The people who win aren't the best applicants. They're the ones who built a connection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build connections. Easy to say, but doing it by hand is brutal. It's 15 minutes to write one good personalized email, and about two hours of work for every reply you get back. A full recruiting cycle is roughly 200 hours, and 180 of those hours is pure busywork, outreach, research, applications, tracking. That's the problem Offerloop was built to erase.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Offerloop actually do all of this? Meet Scout, your fully autonomous copilot. This little guy does the busywork so you can focus on the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Offerloop comes in. You just tell Scout what you want in plain English, a role, a company, a person, and it does the busywork: finding the people, writing the outreach, tracking every conversation. Watch, you say go apply to all 15, and it just does it, pulling from a data engine of 2.2 billion contacts.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fun part, everything Scout can do. Apply to jobs, find people at companies with verified emails, reach the hiring manager who owns the role, research companies before you reach out, write cover letters in seconds, tailor your resume, prep you for meetings, and track every conversation. One assistant, the entire job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works. David Ji, a junior right here at USC, went from first opening Offerloop to a FedEx offer in one month, with tons of coffee chats along the way. Students have sent hundreds of emails they'd never have sent by hand. This is real, and it's growing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enough from me. Let's get Scout on your laptop right now. Everyone open Chrome. Two quick steps: add the extension, then create your account. Takes about a minute and we'll do it together, I'll wait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add the extension. Open a new tab, go to the Chrome Web Store, and search Offerloop. We're the one with the loop mark. Click Add to Chrome, then Add extension on the popup, and pin it to your toolbar. Give me a thumbs up when you see the loop icon up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create your account. Head to offerloop.ai and sign up with your school email. Connect your Gmail so Scout can draft right in your inbox, and you're in. Free to start. Thumbs up when you land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actually use it. Watch my screen. I'll tell Scout what I'm after, capture a real contact in one click, have it draft a personalized email in my voice, and send it via Gmail, live. Then try it yourself: pick one person you'd genuinely want to reach and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image" Target="../media/image-3-27.png"/><Relationship Id="rId28" Type="http://schemas.openxmlformats.org/officeDocument/2006/relationships/image" Target="../media/image-3-28.png"/><Relationship Id="rId29" Type="http://schemas.openxmlformats.org/officeDocument/2006/relationships/image" Target="../media/image-3-29.png"/><Relationship Id="rId30" Type="http://schemas.openxmlformats.org/officeDocument/2006/relationships/image" Target="../media/image-3-30.png"/><Relationship Id="rId31" Type="http://schemas.openxmlformats.org/officeDocument/2006/relationships/image" Target="../media/image-3-31.png"/><Relationship Id="rId32" Type="http://schemas.openxmlformats.org/officeDocument/2006/relationships/image" Target="../media/image-3-32.png"/><Relationship Id="rId33" Type="http://schemas.openxmlformats.org/officeDocument/2006/relationships/slideLayout" Target="../slideLayouts/slideLayout1.xml"/><Relationship Id="rId3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914400" y="3690937"/>
            <a:ext cx="9660293" cy="1607790"/>
          </a:xfrm>
          <a:prstGeom prst="rect">
            <a:avLst/>
          </a:prstGeom>
          <a:noFill/>
          <a:ln/>
        </p:spPr>
        <p:txBody>
          <a:bodyPr wrap="square" lIns="25400" tIns="25400" rIns="25400" bIns="25400" rtlCol="0" anchor="t">
            <a:normAutofit/>
          </a:bodyPr>
          <a:lstStyle/>
          <a:p>
            <a:pPr algn="l" indent="0" marL="0">
              <a:lnSpc>
                <a:spcPct val="90549"/>
              </a:lnSpc>
              <a:buNone/>
            </a:pPr>
            <a:r>
              <a:rPr lang="en-US" sz="6000" b="1" spc="-180" kern="0" dirty="0">
                <a:solidFill>
                  <a:srgbClr val="1E2D4D"/>
                </a:solidFill>
                <a:latin typeface="Georgia" pitchFamily="34" charset="0"/>
                <a:ea typeface="Georgia" pitchFamily="34" charset="-122"/>
                <a:cs typeface="Georgia" pitchFamily="34" charset="-120"/>
              </a:rPr>
              <a:t>The fully autonomous </a:t>
            </a:r>
            <a:pPr algn="l" indent="0" marL="0">
              <a:lnSpc>
                <a:spcPct val="90549"/>
              </a:lnSpc>
              <a:buNone/>
            </a:pPr>
            <a:r>
              <a:rPr lang="en-US" sz="6000" b="1" i="1" spc="-180" kern="0" dirty="0">
                <a:solidFill>
                  <a:srgbClr val="4A60A8"/>
                </a:solidFill>
                <a:latin typeface="Georgia" pitchFamily="34" charset="0"/>
                <a:ea typeface="Georgia" pitchFamily="34" charset="-122"/>
                <a:cs typeface="Georgia" pitchFamily="34" charset="-120"/>
              </a:rPr>
              <a:t>job-search assistant.</a:t>
            </a:r>
            <a:endParaRPr lang="en-US" sz="6000" dirty="0"/>
          </a:p>
        </p:txBody>
      </p:sp>
      <p:sp>
        <p:nvSpPr>
          <p:cNvPr id="3" name="Text 1"/>
          <p:cNvSpPr/>
          <p:nvPr/>
        </p:nvSpPr>
        <p:spPr>
          <a:xfrm>
            <a:off x="914400" y="5546378"/>
            <a:ext cx="6671310" cy="1189583"/>
          </a:xfrm>
          <a:prstGeom prst="rect">
            <a:avLst/>
          </a:prstGeom>
          <a:noFill/>
          <a:ln/>
        </p:spPr>
        <p:txBody>
          <a:bodyPr wrap="square" lIns="25400" tIns="25400" rIns="25400" bIns="25400" rtlCol="0" anchor="t">
            <a:normAutofit/>
          </a:bodyPr>
          <a:lstStyle/>
          <a:p>
            <a:pPr algn="l" indent="0" marL="0">
              <a:lnSpc>
                <a:spcPct val="127937"/>
              </a:lnSpc>
              <a:buNone/>
            </a:pPr>
            <a:r>
              <a:rPr lang="en-US" sz="1950" dirty="0">
                <a:solidFill>
                  <a:srgbClr val="64748B"/>
                </a:solidFill>
                <a:latin typeface="Inter" pitchFamily="34" charset="0"/>
                <a:ea typeface="Inter" pitchFamily="34" charset="-122"/>
                <a:cs typeface="Inter" pitchFamily="34" charset="-120"/>
              </a:rPr>
              <a:t>Offerloop finds the roles, finds the people, writes the outreach in your voice, and tracks every conversation, so you land better offers, faster.</a:t>
            </a:r>
            <a:endParaRPr lang="en-US" sz="1950" dirty="0"/>
          </a:p>
        </p:txBody>
      </p:sp>
      <p:pic>
        <p:nvPicPr>
          <p:cNvPr id="4" name="Image 0" descr="preencoded.png">    </p:cNvPr>
          <p:cNvPicPr>
            <a:picLocks noChangeAspect="1"/>
          </p:cNvPicPr>
          <p:nvPr/>
        </p:nvPicPr>
        <p:blipFill>
          <a:blip r:embed="rId1"/>
          <a:stretch>
            <a:fillRect/>
          </a:stretch>
        </p:blipFill>
        <p:spPr>
          <a:xfrm>
            <a:off x="10890200" y="2609850"/>
            <a:ext cx="6267450" cy="6610350"/>
          </a:xfrm>
          <a:prstGeom prst="rect">
            <a:avLst/>
          </a:prstGeom>
        </p:spPr>
      </p:pic>
      <p:sp>
        <p:nvSpPr>
          <p:cNvPr id="5" name="Shape 2"/>
          <p:cNvSpPr/>
          <p:nvPr/>
        </p:nvSpPr>
        <p:spPr>
          <a:xfrm>
            <a:off x="914400" y="9220200"/>
            <a:ext cx="323850" cy="323850"/>
          </a:xfrm>
          <a:prstGeom prst="ellipse">
            <a:avLst/>
          </a:prstGeom>
          <a:solidFill>
            <a:srgbClr val="E4E9F5"/>
          </a:solidFill>
          <a:ln/>
        </p:spPr>
      </p:sp>
      <p:pic>
        <p:nvPicPr>
          <p:cNvPr id="6" name="Image 1" descr="preencoded.png">    </p:cNvPr>
          <p:cNvPicPr>
            <a:picLocks noChangeAspect="1"/>
          </p:cNvPicPr>
          <p:nvPr/>
        </p:nvPicPr>
        <p:blipFill>
          <a:blip r:embed="rId2"/>
          <a:stretch>
            <a:fillRect/>
          </a:stretch>
        </p:blipFill>
        <p:spPr>
          <a:xfrm>
            <a:off x="1005111" y="9296400"/>
            <a:ext cx="142354" cy="171450"/>
          </a:xfrm>
          <a:prstGeom prst="rect">
            <a:avLst/>
          </a:prstGeom>
        </p:spPr>
      </p:pic>
      <p:sp>
        <p:nvSpPr>
          <p:cNvPr id="7" name="Text 3"/>
          <p:cNvSpPr/>
          <p:nvPr/>
        </p:nvSpPr>
        <p:spPr>
          <a:xfrm>
            <a:off x="1390650" y="9272588"/>
            <a:ext cx="1204094" cy="257175"/>
          </a:xfrm>
          <a:prstGeom prst="rect">
            <a:avLst/>
          </a:prstGeom>
          <a:noFill/>
          <a:ln/>
        </p:spPr>
        <p:txBody>
          <a:bodyPr wrap="square" lIns="0" tIns="0" rIns="0" bIns="0" rtlCol="0" anchor="t">
            <a:normAutofit/>
          </a:bodyPr>
          <a:lstStyle/>
          <a:p>
            <a:pPr algn="l" indent="0" marL="0">
              <a:buNone/>
            </a:pPr>
            <a:r>
              <a:rPr lang="en-US" sz="1425" dirty="0">
                <a:solidFill>
                  <a:srgbClr val="64748B"/>
                </a:solidFill>
                <a:latin typeface="Inter" pitchFamily="34" charset="0"/>
                <a:ea typeface="Inter" pitchFamily="34" charset="-122"/>
                <a:cs typeface="Inter" pitchFamily="34" charset="-120"/>
              </a:rPr>
              <a:t>Presented by</a:t>
            </a:r>
            <a:endParaRPr lang="en-US" sz="1425" dirty="0"/>
          </a:p>
        </p:txBody>
      </p:sp>
      <p:sp>
        <p:nvSpPr>
          <p:cNvPr id="8" name="Text 4"/>
          <p:cNvSpPr/>
          <p:nvPr/>
        </p:nvSpPr>
        <p:spPr>
          <a:xfrm>
            <a:off x="2670944" y="9272588"/>
            <a:ext cx="1143298" cy="257175"/>
          </a:xfrm>
          <a:prstGeom prst="rect">
            <a:avLst/>
          </a:prstGeom>
          <a:noFill/>
          <a:ln/>
        </p:spPr>
        <p:txBody>
          <a:bodyPr wrap="square" lIns="25400" tIns="25400" rIns="25400" bIns="25400" rtlCol="0" anchor="t">
            <a:normAutofit/>
          </a:bodyPr>
          <a:lstStyle/>
          <a:p>
            <a:pPr algn="l" indent="0" marL="0">
              <a:buNone/>
            </a:pPr>
            <a:r>
              <a:rPr lang="en-US" sz="1425" b="1" dirty="0">
                <a:solidFill>
                  <a:srgbClr val="1E2D4D"/>
                </a:solidFill>
                <a:latin typeface="Inter" pitchFamily="34" charset="0"/>
                <a:ea typeface="Inter" pitchFamily="34" charset="-122"/>
                <a:cs typeface="Inter" pitchFamily="34" charset="-120"/>
              </a:rPr>
              <a:t>[Your name]</a:t>
            </a:r>
            <a:endParaRPr lang="en-US" sz="1425" dirty="0"/>
          </a:p>
        </p:txBody>
      </p:sp>
      <p:sp>
        <p:nvSpPr>
          <p:cNvPr id="9" name="Text 5"/>
          <p:cNvSpPr/>
          <p:nvPr/>
        </p:nvSpPr>
        <p:spPr>
          <a:xfrm>
            <a:off x="3890442" y="9272588"/>
            <a:ext cx="2880298" cy="257175"/>
          </a:xfrm>
          <a:prstGeom prst="rect">
            <a:avLst/>
          </a:prstGeom>
          <a:noFill/>
          <a:ln/>
        </p:spPr>
        <p:txBody>
          <a:bodyPr wrap="square" lIns="0" tIns="0" rIns="0" bIns="0" rtlCol="0" anchor="t">
            <a:normAutofit/>
          </a:bodyPr>
          <a:lstStyle/>
          <a:p>
            <a:pPr algn="l" indent="0" marL="0">
              <a:buNone/>
            </a:pPr>
            <a:r>
              <a:rPr lang="en-US" sz="1425" dirty="0">
                <a:solidFill>
                  <a:srgbClr val="64748B"/>
                </a:solidFill>
                <a:latin typeface="Inter" pitchFamily="34" charset="0"/>
                <a:ea typeface="Inter" pitchFamily="34" charset="-122"/>
                <a:cs typeface="Inter" pitchFamily="34" charset="-120"/>
              </a:rPr>
              <a:t>· Offerloop Campus Ambassador</a:t>
            </a:r>
            <a:endParaRPr lang="en-US" sz="14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1047750" y="3112219"/>
            <a:ext cx="17811750" cy="216173"/>
          </a:xfrm>
          <a:prstGeom prst="rect">
            <a:avLst/>
          </a:prstGeom>
          <a:noFill/>
          <a:ln/>
        </p:spPr>
        <p:txBody>
          <a:bodyPr wrap="square" lIns="25400" tIns="25400" rIns="25400" bIns="25400" rtlCol="0" anchor="t">
            <a:normAutofit/>
          </a:bodyPr>
          <a:lstStyle/>
          <a:p>
            <a:pPr algn="l" indent="0" marL="0">
              <a:lnSpc>
                <a:spcPct val="91220"/>
              </a:lnSpc>
              <a:buNone/>
            </a:pPr>
            <a:r>
              <a:rPr lang="en-US" sz="1275" b="1" spc="127" kern="0" dirty="0">
                <a:solidFill>
                  <a:srgbClr val="4A60A8"/>
                </a:solidFill>
                <a:latin typeface="Inter" pitchFamily="34" charset="0"/>
                <a:ea typeface="Inter" pitchFamily="34" charset="-122"/>
                <a:cs typeface="Inter" pitchFamily="34" charset="-120"/>
              </a:rPr>
              <a:t>THE JOB SEARCH TODAY</a:t>
            </a:r>
            <a:endParaRPr lang="en-US" sz="1275" dirty="0"/>
          </a:p>
        </p:txBody>
      </p:sp>
      <p:sp>
        <p:nvSpPr>
          <p:cNvPr id="3" name="Text 1"/>
          <p:cNvSpPr/>
          <p:nvPr/>
        </p:nvSpPr>
        <p:spPr>
          <a:xfrm>
            <a:off x="1047750" y="3480792"/>
            <a:ext cx="12049125" cy="634678"/>
          </a:xfrm>
          <a:prstGeom prst="rect">
            <a:avLst/>
          </a:prstGeom>
          <a:noFill/>
          <a:ln/>
        </p:spPr>
        <p:txBody>
          <a:bodyPr wrap="square" lIns="25400" tIns="25400" rIns="25400" bIns="25400" rtlCol="0" anchor="t">
            <a:normAutofit/>
          </a:bodyPr>
          <a:lstStyle/>
          <a:p>
            <a:pPr algn="l" indent="0" marL="0">
              <a:lnSpc>
                <a:spcPct val="84081"/>
              </a:lnSpc>
              <a:buNone/>
            </a:pPr>
            <a:r>
              <a:rPr lang="en-US" sz="4350" b="1" spc="-87" kern="0" dirty="0">
                <a:solidFill>
                  <a:srgbClr val="1E2D4D"/>
                </a:solidFill>
                <a:latin typeface="Lora" pitchFamily="34" charset="0"/>
                <a:ea typeface="Lora" pitchFamily="34" charset="-122"/>
                <a:cs typeface="Lora" pitchFamily="34" charset="-120"/>
              </a:rPr>
              <a:t>Apply. Wait. Get </a:t>
            </a:r>
            <a:pPr algn="l" indent="0" marL="0">
              <a:lnSpc>
                <a:spcPct val="84081"/>
              </a:lnSpc>
              <a:buNone/>
            </a:pPr>
            <a:r>
              <a:rPr lang="en-US" sz="4350" b="1" i="1" spc="-87" kern="0" dirty="0">
                <a:solidFill>
                  <a:srgbClr val="4A60A8"/>
                </a:solidFill>
                <a:latin typeface="Lora" pitchFamily="34" charset="0"/>
                <a:ea typeface="Lora" pitchFamily="34" charset="-122"/>
                <a:cs typeface="Lora" pitchFamily="34" charset="-120"/>
              </a:rPr>
              <a:t>ghosted. </a:t>
            </a:r>
            <a:pPr algn="l" indent="0" marL="0">
              <a:lnSpc>
                <a:spcPct val="84081"/>
              </a:lnSpc>
              <a:buNone/>
            </a:pPr>
            <a:r>
              <a:rPr lang="en-US" sz="4350" b="1" spc="-87" kern="0" dirty="0">
                <a:solidFill>
                  <a:srgbClr val="1E2D4D"/>
                </a:solidFill>
                <a:latin typeface="Lora" pitchFamily="34" charset="0"/>
                <a:ea typeface="Lora" pitchFamily="34" charset="-122"/>
                <a:cs typeface="Lora" pitchFamily="34" charset="-120"/>
              </a:rPr>
              <a:t>Repeat.</a:t>
            </a:r>
            <a:endParaRPr lang="en-US" sz="4350" dirty="0"/>
          </a:p>
        </p:txBody>
      </p:sp>
      <p:sp>
        <p:nvSpPr>
          <p:cNvPr id="4" name="Shape 2"/>
          <p:cNvSpPr/>
          <p:nvPr/>
        </p:nvSpPr>
        <p:spPr>
          <a:xfrm>
            <a:off x="1047750" y="4572670"/>
            <a:ext cx="3736851" cy="1863923"/>
          </a:xfrm>
          <a:prstGeom prst="roundRect">
            <a:avLst>
              <a:gd name="adj" fmla="val 8176"/>
            </a:avLst>
          </a:prstGeom>
          <a:solidFill>
            <a:srgbClr val="FFFFFF"/>
          </a:solidFill>
          <a:ln w="9525">
            <a:solidFill>
              <a:srgbClr val="D4CEC7"/>
            </a:solidFill>
            <a:prstDash val="solid"/>
          </a:ln>
          <a:effectLst>
            <a:outerShdw sx="100000" sy="100000" kx="0" ky="0" algn="bl" rotWithShape="0" blurRad="19050" dist="9525" dir="5400000">
              <a:srgbClr val="1A1A1A">
                <a:alpha val="5000"/>
              </a:srgbClr>
            </a:outerShdw>
          </a:effectLst>
        </p:spPr>
      </p:sp>
      <p:sp>
        <p:nvSpPr>
          <p:cNvPr id="5" name="Text 3"/>
          <p:cNvSpPr/>
          <p:nvPr/>
        </p:nvSpPr>
        <p:spPr>
          <a:xfrm>
            <a:off x="1343025" y="4886995"/>
            <a:ext cx="3460931"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4A60A8"/>
                </a:solidFill>
                <a:latin typeface="Lora" pitchFamily="34" charset="0"/>
                <a:ea typeface="Lora" pitchFamily="34" charset="-122"/>
                <a:cs typeface="Lora" pitchFamily="34" charset="-120"/>
              </a:rPr>
              <a:t>01</a:t>
            </a:r>
            <a:endParaRPr lang="en-US" sz="1650" dirty="0"/>
          </a:p>
        </p:txBody>
      </p:sp>
      <p:sp>
        <p:nvSpPr>
          <p:cNvPr id="6" name="Text 4"/>
          <p:cNvSpPr/>
          <p:nvPr/>
        </p:nvSpPr>
        <p:spPr>
          <a:xfrm>
            <a:off x="1343025" y="5267995"/>
            <a:ext cx="3460931"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1E2D4D"/>
                </a:solidFill>
                <a:latin typeface="Inter" pitchFamily="34" charset="0"/>
                <a:ea typeface="Inter" pitchFamily="34" charset="-122"/>
                <a:cs typeface="Inter" pitchFamily="34" charset="-120"/>
              </a:rPr>
              <a:t>Find a posting</a:t>
            </a:r>
            <a:endParaRPr lang="en-US" sz="1800" dirty="0"/>
          </a:p>
        </p:txBody>
      </p:sp>
      <p:sp>
        <p:nvSpPr>
          <p:cNvPr id="7" name="Text 5"/>
          <p:cNvSpPr/>
          <p:nvPr/>
        </p:nvSpPr>
        <p:spPr>
          <a:xfrm>
            <a:off x="1343025" y="5625182"/>
            <a:ext cx="3240690" cy="535186"/>
          </a:xfrm>
          <a:prstGeom prst="rect">
            <a:avLst/>
          </a:prstGeom>
          <a:noFill/>
          <a:ln/>
        </p:spPr>
        <p:txBody>
          <a:bodyPr wrap="square" lIns="25400" tIns="25400" rIns="25400" bIns="25400" rtlCol="0" anchor="t">
            <a:normAutofit/>
          </a:bodyPr>
          <a:lstStyle/>
          <a:p>
            <a:pPr algn="l" indent="0" marL="0">
              <a:lnSpc>
                <a:spcPct val="118636"/>
              </a:lnSpc>
              <a:buNone/>
            </a:pPr>
            <a:r>
              <a:rPr lang="en-US" sz="1350" dirty="0">
                <a:solidFill>
                  <a:srgbClr val="64748B"/>
                </a:solidFill>
                <a:latin typeface="Inter" pitchFamily="34" charset="0"/>
                <a:ea typeface="Inter" pitchFamily="34" charset="-122"/>
                <a:cs typeface="Inter" pitchFamily="34" charset="-120"/>
              </a:rPr>
              <a:t>Scroll job boards for hours looking for a fit.</a:t>
            </a:r>
            <a:endParaRPr lang="en-US" sz="1350" dirty="0"/>
          </a:p>
        </p:txBody>
      </p:sp>
      <p:sp>
        <p:nvSpPr>
          <p:cNvPr id="8" name="Text 6"/>
          <p:cNvSpPr/>
          <p:nvPr/>
        </p:nvSpPr>
        <p:spPr>
          <a:xfrm>
            <a:off x="4860801" y="4572670"/>
            <a:ext cx="338807" cy="1902023"/>
          </a:xfrm>
          <a:prstGeom prst="rect">
            <a:avLst/>
          </a:prstGeom>
          <a:noFill/>
          <a:ln/>
        </p:spPr>
        <p:txBody>
          <a:bodyPr wrap="square" lIns="25400" tIns="25400" rIns="25400" bIns="25400" rtlCol="0" anchor="ctr">
            <a:normAutofit/>
          </a:bodyPr>
          <a:lstStyle/>
          <a:p>
            <a:pPr algn="l" indent="0" marL="0">
              <a:buNone/>
            </a:pPr>
            <a:r>
              <a:rPr lang="en-US" sz="2250" dirty="0">
                <a:solidFill>
                  <a:srgbClr val="94A3B8"/>
                </a:solidFill>
                <a:latin typeface="Inter" pitchFamily="34" charset="0"/>
                <a:ea typeface="Inter" pitchFamily="34" charset="-122"/>
                <a:cs typeface="Inter" pitchFamily="34" charset="-120"/>
              </a:rPr>
              <a:t>→</a:t>
            </a:r>
            <a:endParaRPr lang="en-US" sz="2250" dirty="0"/>
          </a:p>
        </p:txBody>
      </p:sp>
      <p:sp>
        <p:nvSpPr>
          <p:cNvPr id="9" name="Shape 7"/>
          <p:cNvSpPr/>
          <p:nvPr/>
        </p:nvSpPr>
        <p:spPr>
          <a:xfrm>
            <a:off x="5199608" y="4572670"/>
            <a:ext cx="3736925" cy="1863923"/>
          </a:xfrm>
          <a:prstGeom prst="roundRect">
            <a:avLst>
              <a:gd name="adj" fmla="val 8176"/>
            </a:avLst>
          </a:prstGeom>
          <a:solidFill>
            <a:srgbClr val="FFFFFF"/>
          </a:solidFill>
          <a:ln w="9525">
            <a:solidFill>
              <a:srgbClr val="D4CEC7"/>
            </a:solidFill>
            <a:prstDash val="solid"/>
          </a:ln>
          <a:effectLst>
            <a:outerShdw sx="100000" sy="100000" kx="0" ky="0" algn="bl" rotWithShape="0" blurRad="19050" dist="9525" dir="5400000">
              <a:srgbClr val="1A1A1A">
                <a:alpha val="5000"/>
              </a:srgbClr>
            </a:outerShdw>
          </a:effectLst>
        </p:spPr>
      </p:sp>
      <p:sp>
        <p:nvSpPr>
          <p:cNvPr id="10" name="Text 8"/>
          <p:cNvSpPr/>
          <p:nvPr/>
        </p:nvSpPr>
        <p:spPr>
          <a:xfrm>
            <a:off x="5494883" y="4886995"/>
            <a:ext cx="3461013"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4A60A8"/>
                </a:solidFill>
                <a:latin typeface="Lora" pitchFamily="34" charset="0"/>
                <a:ea typeface="Lora" pitchFamily="34" charset="-122"/>
                <a:cs typeface="Lora" pitchFamily="34" charset="-120"/>
              </a:rPr>
              <a:t>02</a:t>
            </a:r>
            <a:endParaRPr lang="en-US" sz="1650" dirty="0"/>
          </a:p>
        </p:txBody>
      </p:sp>
      <p:sp>
        <p:nvSpPr>
          <p:cNvPr id="11" name="Text 9"/>
          <p:cNvSpPr/>
          <p:nvPr/>
        </p:nvSpPr>
        <p:spPr>
          <a:xfrm>
            <a:off x="5494883" y="5267995"/>
            <a:ext cx="3461013"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1E2D4D"/>
                </a:solidFill>
                <a:latin typeface="Inter" pitchFamily="34" charset="0"/>
                <a:ea typeface="Inter" pitchFamily="34" charset="-122"/>
                <a:cs typeface="Inter" pitchFamily="34" charset="-120"/>
              </a:rPr>
              <a:t>Submit &amp; hope</a:t>
            </a:r>
            <a:endParaRPr lang="en-US" sz="1800" dirty="0"/>
          </a:p>
        </p:txBody>
      </p:sp>
      <p:sp>
        <p:nvSpPr>
          <p:cNvPr id="12" name="Text 10"/>
          <p:cNvSpPr/>
          <p:nvPr/>
        </p:nvSpPr>
        <p:spPr>
          <a:xfrm>
            <a:off x="5494883" y="5625182"/>
            <a:ext cx="3240767" cy="535186"/>
          </a:xfrm>
          <a:prstGeom prst="rect">
            <a:avLst/>
          </a:prstGeom>
          <a:noFill/>
          <a:ln/>
        </p:spPr>
        <p:txBody>
          <a:bodyPr wrap="square" lIns="25400" tIns="25400" rIns="25400" bIns="25400" rtlCol="0" anchor="t">
            <a:normAutofit/>
          </a:bodyPr>
          <a:lstStyle/>
          <a:p>
            <a:pPr algn="l" indent="0" marL="0">
              <a:lnSpc>
                <a:spcPct val="118636"/>
              </a:lnSpc>
              <a:buNone/>
            </a:pPr>
            <a:r>
              <a:rPr lang="en-US" sz="1350" dirty="0">
                <a:solidFill>
                  <a:srgbClr val="64748B"/>
                </a:solidFill>
                <a:latin typeface="Inter" pitchFamily="34" charset="0"/>
                <a:ea typeface="Inter" pitchFamily="34" charset="-122"/>
                <a:cs typeface="Inter" pitchFamily="34" charset="-120"/>
              </a:rPr>
              <a:t>You're application #4,000 in a stack of 12,000.</a:t>
            </a:r>
            <a:endParaRPr lang="en-US" sz="1350" dirty="0"/>
          </a:p>
        </p:txBody>
      </p:sp>
      <p:sp>
        <p:nvSpPr>
          <p:cNvPr id="13" name="Text 11"/>
          <p:cNvSpPr/>
          <p:nvPr/>
        </p:nvSpPr>
        <p:spPr>
          <a:xfrm>
            <a:off x="9012734" y="4572670"/>
            <a:ext cx="338807" cy="1902023"/>
          </a:xfrm>
          <a:prstGeom prst="rect">
            <a:avLst/>
          </a:prstGeom>
          <a:noFill/>
          <a:ln/>
        </p:spPr>
        <p:txBody>
          <a:bodyPr wrap="square" lIns="25400" tIns="25400" rIns="25400" bIns="25400" rtlCol="0" anchor="ctr">
            <a:normAutofit/>
          </a:bodyPr>
          <a:lstStyle/>
          <a:p>
            <a:pPr algn="l" indent="0" marL="0">
              <a:buNone/>
            </a:pPr>
            <a:r>
              <a:rPr lang="en-US" sz="2250" dirty="0">
                <a:solidFill>
                  <a:srgbClr val="94A3B8"/>
                </a:solidFill>
                <a:latin typeface="Inter" pitchFamily="34" charset="0"/>
                <a:ea typeface="Inter" pitchFamily="34" charset="-122"/>
                <a:cs typeface="Inter" pitchFamily="34" charset="-120"/>
              </a:rPr>
              <a:t>→</a:t>
            </a:r>
            <a:endParaRPr lang="en-US" sz="2250" dirty="0"/>
          </a:p>
        </p:txBody>
      </p:sp>
      <p:sp>
        <p:nvSpPr>
          <p:cNvPr id="14" name="Shape 12"/>
          <p:cNvSpPr/>
          <p:nvPr/>
        </p:nvSpPr>
        <p:spPr>
          <a:xfrm>
            <a:off x="9351541" y="4572670"/>
            <a:ext cx="3736851" cy="1863923"/>
          </a:xfrm>
          <a:prstGeom prst="roundRect">
            <a:avLst>
              <a:gd name="adj" fmla="val 8176"/>
            </a:avLst>
          </a:prstGeom>
          <a:solidFill>
            <a:srgbClr val="FFFFFF"/>
          </a:solidFill>
          <a:ln w="9525">
            <a:solidFill>
              <a:srgbClr val="D4CEC7"/>
            </a:solidFill>
            <a:prstDash val="solid"/>
          </a:ln>
          <a:effectLst>
            <a:outerShdw sx="100000" sy="100000" kx="0" ky="0" algn="bl" rotWithShape="0" blurRad="19050" dist="9525" dir="5400000">
              <a:srgbClr val="1A1A1A">
                <a:alpha val="5000"/>
              </a:srgbClr>
            </a:outerShdw>
          </a:effectLst>
        </p:spPr>
      </p:sp>
      <p:sp>
        <p:nvSpPr>
          <p:cNvPr id="15" name="Text 13"/>
          <p:cNvSpPr/>
          <p:nvPr/>
        </p:nvSpPr>
        <p:spPr>
          <a:xfrm>
            <a:off x="9646816" y="4886995"/>
            <a:ext cx="3460931"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4A60A8"/>
                </a:solidFill>
                <a:latin typeface="Lora" pitchFamily="34" charset="0"/>
                <a:ea typeface="Lora" pitchFamily="34" charset="-122"/>
                <a:cs typeface="Lora" pitchFamily="34" charset="-120"/>
              </a:rPr>
              <a:t>03</a:t>
            </a:r>
            <a:endParaRPr lang="en-US" sz="1650" dirty="0"/>
          </a:p>
        </p:txBody>
      </p:sp>
      <p:sp>
        <p:nvSpPr>
          <p:cNvPr id="16" name="Text 14"/>
          <p:cNvSpPr/>
          <p:nvPr/>
        </p:nvSpPr>
        <p:spPr>
          <a:xfrm>
            <a:off x="9646816" y="5267995"/>
            <a:ext cx="3460931"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1E2D4D"/>
                </a:solidFill>
                <a:latin typeface="Inter" pitchFamily="34" charset="0"/>
                <a:ea typeface="Inter" pitchFamily="34" charset="-122"/>
                <a:cs typeface="Inter" pitchFamily="34" charset="-120"/>
              </a:rPr>
              <a:t>Wait weeks</a:t>
            </a:r>
            <a:endParaRPr lang="en-US" sz="1800" dirty="0"/>
          </a:p>
        </p:txBody>
      </p:sp>
      <p:sp>
        <p:nvSpPr>
          <p:cNvPr id="17" name="Text 15"/>
          <p:cNvSpPr/>
          <p:nvPr/>
        </p:nvSpPr>
        <p:spPr>
          <a:xfrm>
            <a:off x="9646816" y="5625182"/>
            <a:ext cx="3240690" cy="535186"/>
          </a:xfrm>
          <a:prstGeom prst="rect">
            <a:avLst/>
          </a:prstGeom>
          <a:noFill/>
          <a:ln/>
        </p:spPr>
        <p:txBody>
          <a:bodyPr wrap="square" lIns="25400" tIns="25400" rIns="25400" bIns="25400" rtlCol="0" anchor="t">
            <a:normAutofit/>
          </a:bodyPr>
          <a:lstStyle/>
          <a:p>
            <a:pPr algn="l" indent="0" marL="0">
              <a:lnSpc>
                <a:spcPct val="118636"/>
              </a:lnSpc>
              <a:buNone/>
            </a:pPr>
            <a:r>
              <a:rPr lang="en-US" sz="1350" dirty="0">
                <a:solidFill>
                  <a:srgbClr val="64748B"/>
                </a:solidFill>
                <a:latin typeface="Inter" pitchFamily="34" charset="0"/>
                <a:ea typeface="Inter" pitchFamily="34" charset="-122"/>
                <a:cs typeface="Inter" pitchFamily="34" charset="-120"/>
              </a:rPr>
              <a:t>An algorithm screens you before a person ever does.</a:t>
            </a:r>
            <a:endParaRPr lang="en-US" sz="1350" dirty="0"/>
          </a:p>
        </p:txBody>
      </p:sp>
      <p:sp>
        <p:nvSpPr>
          <p:cNvPr id="18" name="Text 16"/>
          <p:cNvSpPr/>
          <p:nvPr/>
        </p:nvSpPr>
        <p:spPr>
          <a:xfrm>
            <a:off x="13164592" y="4572670"/>
            <a:ext cx="338807" cy="1902023"/>
          </a:xfrm>
          <a:prstGeom prst="rect">
            <a:avLst/>
          </a:prstGeom>
          <a:noFill/>
          <a:ln/>
        </p:spPr>
        <p:txBody>
          <a:bodyPr wrap="square" lIns="25400" tIns="25400" rIns="25400" bIns="25400" rtlCol="0" anchor="ctr">
            <a:normAutofit/>
          </a:bodyPr>
          <a:lstStyle/>
          <a:p>
            <a:pPr algn="l" indent="0" marL="0">
              <a:buNone/>
            </a:pPr>
            <a:r>
              <a:rPr lang="en-US" sz="2250" dirty="0">
                <a:solidFill>
                  <a:srgbClr val="E07A3E"/>
                </a:solidFill>
                <a:latin typeface="Inter" pitchFamily="34" charset="0"/>
                <a:ea typeface="Inter" pitchFamily="34" charset="-122"/>
                <a:cs typeface="Inter" pitchFamily="34" charset="-120"/>
              </a:rPr>
              <a:t>→</a:t>
            </a:r>
            <a:endParaRPr lang="en-US" sz="2250" dirty="0"/>
          </a:p>
        </p:txBody>
      </p:sp>
      <p:sp>
        <p:nvSpPr>
          <p:cNvPr id="19" name="Shape 17"/>
          <p:cNvSpPr/>
          <p:nvPr/>
        </p:nvSpPr>
        <p:spPr>
          <a:xfrm>
            <a:off x="13503399" y="4572670"/>
            <a:ext cx="3736851" cy="1863923"/>
          </a:xfrm>
          <a:prstGeom prst="roundRect">
            <a:avLst>
              <a:gd name="adj" fmla="val 8176"/>
            </a:avLst>
          </a:prstGeom>
          <a:solidFill>
            <a:srgbClr val="FBE6D6"/>
          </a:solidFill>
          <a:ln w="9525">
            <a:solidFill>
              <a:srgbClr val="E07A3E"/>
            </a:solidFill>
            <a:prstDash val="solid"/>
          </a:ln>
          <a:effectLst>
            <a:outerShdw sx="100000" sy="100000" kx="0" ky="0" algn="bl" rotWithShape="0" blurRad="19050" dist="9525" dir="5400000">
              <a:srgbClr val="1A1A1A">
                <a:alpha val="5000"/>
              </a:srgbClr>
            </a:outerShdw>
          </a:effectLst>
        </p:spPr>
      </p:sp>
      <p:sp>
        <p:nvSpPr>
          <p:cNvPr id="20" name="Text 18"/>
          <p:cNvSpPr/>
          <p:nvPr/>
        </p:nvSpPr>
        <p:spPr>
          <a:xfrm>
            <a:off x="13798674" y="4886995"/>
            <a:ext cx="3460931" cy="304800"/>
          </a:xfrm>
          <a:prstGeom prst="rect">
            <a:avLst/>
          </a:prstGeom>
          <a:noFill/>
          <a:ln/>
        </p:spPr>
        <p:txBody>
          <a:bodyPr wrap="square" lIns="25400" tIns="25400" rIns="25400" bIns="25400" rtlCol="0" anchor="t">
            <a:normAutofit/>
          </a:bodyPr>
          <a:lstStyle/>
          <a:p>
            <a:pPr algn="l" indent="0" marL="0">
              <a:buNone/>
            </a:pPr>
            <a:r>
              <a:rPr lang="en-US" sz="1650" b="1" dirty="0">
                <a:solidFill>
                  <a:srgbClr val="C9652C"/>
                </a:solidFill>
                <a:latin typeface="Lora" pitchFamily="34" charset="0"/>
                <a:ea typeface="Lora" pitchFamily="34" charset="-122"/>
                <a:cs typeface="Lora" pitchFamily="34" charset="-120"/>
              </a:rPr>
              <a:t>04</a:t>
            </a:r>
            <a:endParaRPr lang="en-US" sz="1650" dirty="0"/>
          </a:p>
        </p:txBody>
      </p:sp>
      <p:sp>
        <p:nvSpPr>
          <p:cNvPr id="21" name="Text 19"/>
          <p:cNvSpPr/>
          <p:nvPr/>
        </p:nvSpPr>
        <p:spPr>
          <a:xfrm>
            <a:off x="13798674" y="5267995"/>
            <a:ext cx="3460931"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C9652C"/>
                </a:solidFill>
                <a:latin typeface="Inter" pitchFamily="34" charset="0"/>
                <a:ea typeface="Inter" pitchFamily="34" charset="-122"/>
                <a:cs typeface="Inter" pitchFamily="34" charset="-120"/>
              </a:rPr>
              <a:t>Silence</a:t>
            </a:r>
            <a:endParaRPr lang="en-US" sz="1800" dirty="0"/>
          </a:p>
        </p:txBody>
      </p:sp>
      <p:sp>
        <p:nvSpPr>
          <p:cNvPr id="22" name="Text 20"/>
          <p:cNvSpPr/>
          <p:nvPr/>
        </p:nvSpPr>
        <p:spPr>
          <a:xfrm>
            <a:off x="13798674" y="5625182"/>
            <a:ext cx="3460931" cy="286643"/>
          </a:xfrm>
          <a:prstGeom prst="rect">
            <a:avLst/>
          </a:prstGeom>
          <a:noFill/>
          <a:ln/>
        </p:spPr>
        <p:txBody>
          <a:bodyPr wrap="square" lIns="25400" tIns="25400" rIns="25400" bIns="25400" rtlCol="0" anchor="t">
            <a:normAutofit/>
          </a:bodyPr>
          <a:lstStyle/>
          <a:p>
            <a:pPr algn="l" indent="0" marL="0">
              <a:lnSpc>
                <a:spcPct val="118636"/>
              </a:lnSpc>
              <a:buNone/>
            </a:pPr>
            <a:r>
              <a:rPr lang="en-US" sz="1350" dirty="0">
                <a:solidFill>
                  <a:srgbClr val="C9652C"/>
                </a:solidFill>
                <a:latin typeface="Inter" pitchFamily="34" charset="0"/>
                <a:ea typeface="Inter" pitchFamily="34" charset="-122"/>
                <a:cs typeface="Inter" pitchFamily="34" charset="-120"/>
              </a:rPr>
              <a:t>No reply. Back to square one.</a:t>
            </a:r>
            <a:endParaRPr lang="en-US" sz="1350" dirty="0"/>
          </a:p>
        </p:txBody>
      </p:sp>
      <p:sp>
        <p:nvSpPr>
          <p:cNvPr id="23" name="Text 21"/>
          <p:cNvSpPr/>
          <p:nvPr/>
        </p:nvSpPr>
        <p:spPr>
          <a:xfrm>
            <a:off x="1047750" y="6874743"/>
            <a:ext cx="11525250" cy="338138"/>
          </a:xfrm>
          <a:prstGeom prst="rect">
            <a:avLst/>
          </a:prstGeom>
          <a:noFill/>
          <a:ln/>
        </p:spPr>
        <p:txBody>
          <a:bodyPr wrap="square" lIns="25400" tIns="25400" rIns="25400" bIns="25400" rtlCol="0" anchor="t">
            <a:normAutofit/>
          </a:bodyPr>
          <a:lstStyle/>
          <a:p>
            <a:pPr algn="l" indent="0" marL="0">
              <a:buNone/>
            </a:pPr>
            <a:r>
              <a:rPr lang="en-US" sz="1950" dirty="0">
                <a:solidFill>
                  <a:srgbClr val="475569"/>
                </a:solidFill>
                <a:latin typeface="Inter" pitchFamily="34" charset="0"/>
                <a:ea typeface="Inter" pitchFamily="34" charset="-122"/>
                <a:cs typeface="Inter" pitchFamily="34" charset="-120"/>
              </a:rPr>
              <a:t>Applying harder doesn't fix this.</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914400" y="2192164"/>
            <a:ext cx="18105120" cy="216173"/>
          </a:xfrm>
          <a:prstGeom prst="rect">
            <a:avLst/>
          </a:prstGeom>
          <a:noFill/>
          <a:ln/>
        </p:spPr>
        <p:txBody>
          <a:bodyPr wrap="square" lIns="25400" tIns="25400" rIns="25400" bIns="25400" rtlCol="0" anchor="t">
            <a:normAutofit/>
          </a:bodyPr>
          <a:lstStyle/>
          <a:p>
            <a:pPr algn="l" indent="0" marL="0">
              <a:lnSpc>
                <a:spcPct val="91220"/>
              </a:lnSpc>
              <a:buNone/>
            </a:pPr>
            <a:r>
              <a:rPr lang="en-US" sz="1275" b="1" spc="127" kern="0" dirty="0">
                <a:solidFill>
                  <a:srgbClr val="E07A3E"/>
                </a:solidFill>
                <a:latin typeface="Inter" pitchFamily="34" charset="0"/>
                <a:ea typeface="Inter" pitchFamily="34" charset="-122"/>
                <a:cs typeface="Inter" pitchFamily="34" charset="-120"/>
              </a:rPr>
              <a:t>THE REALITY OF THE JOB MARKET</a:t>
            </a:r>
            <a:endParaRPr lang="en-US" sz="1275" dirty="0"/>
          </a:p>
        </p:txBody>
      </p:sp>
      <p:sp>
        <p:nvSpPr>
          <p:cNvPr id="3" name="Text 1"/>
          <p:cNvSpPr/>
          <p:nvPr/>
        </p:nvSpPr>
        <p:spPr>
          <a:xfrm>
            <a:off x="914400" y="2617887"/>
            <a:ext cx="5169009" cy="1495425"/>
          </a:xfrm>
          <a:prstGeom prst="rect">
            <a:avLst/>
          </a:prstGeom>
          <a:noFill/>
          <a:ln/>
        </p:spPr>
        <p:txBody>
          <a:bodyPr wrap="square" lIns="25400" tIns="25400" rIns="25400" bIns="25400" rtlCol="0" anchor="t">
            <a:normAutofit/>
          </a:bodyPr>
          <a:lstStyle/>
          <a:p>
            <a:pPr algn="l" indent="0" marL="0">
              <a:lnSpc>
                <a:spcPct val="70345"/>
              </a:lnSpc>
              <a:buNone/>
            </a:pPr>
            <a:r>
              <a:rPr lang="en-US" sz="12750" b="1" spc="-382" kern="0" dirty="0">
                <a:solidFill>
                  <a:srgbClr val="FFFFFF"/>
                </a:solidFill>
                <a:latin typeface="Lora" pitchFamily="34" charset="0"/>
                <a:ea typeface="Lora" pitchFamily="34" charset="-122"/>
                <a:cs typeface="Lora" pitchFamily="34" charset="-120"/>
              </a:rPr>
              <a:t>12,000</a:t>
            </a:r>
            <a:endParaRPr lang="en-US" sz="12750" dirty="0"/>
          </a:p>
        </p:txBody>
      </p:sp>
      <p:sp>
        <p:nvSpPr>
          <p:cNvPr id="4" name="Text 2"/>
          <p:cNvSpPr/>
          <p:nvPr/>
        </p:nvSpPr>
        <p:spPr>
          <a:xfrm>
            <a:off x="5956399" y="2861816"/>
            <a:ext cx="5101590" cy="1118146"/>
          </a:xfrm>
          <a:prstGeom prst="rect">
            <a:avLst/>
          </a:prstGeom>
          <a:noFill/>
          <a:ln/>
        </p:spPr>
        <p:txBody>
          <a:bodyPr wrap="square" lIns="25400" tIns="25400" rIns="25400" bIns="25400" rtlCol="0" anchor="t">
            <a:normAutofit/>
          </a:bodyPr>
          <a:lstStyle/>
          <a:p>
            <a:pPr algn="l" indent="0" marL="0">
              <a:lnSpc>
                <a:spcPct val="116308"/>
              </a:lnSpc>
              <a:buNone/>
            </a:pPr>
            <a:r>
              <a:rPr lang="en-US" sz="2025" dirty="0">
                <a:solidFill>
                  <a:srgbClr val="FFFFFF">
                    <a:alpha val="72000"/>
                  </a:srgbClr>
                </a:solidFill>
                <a:latin typeface="Inter" pitchFamily="34" charset="0"/>
                <a:ea typeface="Inter" pitchFamily="34" charset="-122"/>
                <a:cs typeface="Inter" pitchFamily="34" charset="-120"/>
              </a:rPr>
              <a:t>applicants for the average </a:t>
            </a:r>
            <a:pPr algn="l" indent="0" marL="0">
              <a:lnSpc>
                <a:spcPct val="116308"/>
              </a:lnSpc>
              <a:buNone/>
            </a:pPr>
            <a:r>
              <a:rPr lang="en-US" sz="2025" b="1" dirty="0">
                <a:solidFill>
                  <a:srgbClr val="FFFFFF"/>
                </a:solidFill>
                <a:latin typeface="Inter" pitchFamily="34" charset="0"/>
                <a:ea typeface="Inter" pitchFamily="34" charset="-122"/>
                <a:cs typeface="Inter" pitchFamily="34" charset="-120"/>
              </a:rPr>
              <a:t>entry-level role </a:t>
            </a:r>
            <a:pPr algn="l" indent="0" marL="0">
              <a:lnSpc>
                <a:spcPct val="116308"/>
              </a:lnSpc>
              <a:buNone/>
            </a:pPr>
            <a:r>
              <a:rPr lang="en-US" sz="2025" dirty="0">
                <a:solidFill>
                  <a:srgbClr val="FFFFFF">
                    <a:alpha val="72000"/>
                  </a:srgbClr>
                </a:solidFill>
                <a:latin typeface="Inter" pitchFamily="34" charset="0"/>
                <a:ea typeface="Inter" pitchFamily="34" charset="-122"/>
                <a:cs typeface="Inter" pitchFamily="34" charset="-120"/>
              </a:rPr>
              <a:t>, at the 50 biggest companies in the world.</a:t>
            </a:r>
            <a:endParaRPr lang="en-US" sz="2025" dirty="0"/>
          </a:p>
        </p:txBody>
      </p:sp>
      <p:pic>
        <p:nvPicPr>
          <p:cNvPr id="5" name="Image 0" descr="preencoded.png">    </p:cNvPr>
          <p:cNvPicPr>
            <a:picLocks noChangeAspect="1"/>
          </p:cNvPicPr>
          <p:nvPr/>
        </p:nvPicPr>
        <p:blipFill>
          <a:blip r:embed="rId1">
            <a:alphaModFix amt="90000"/>
          </a:blip>
          <a:srcRect l="0" r="0" t="0" b="0"/>
          <a:stretch/>
        </p:blipFill>
        <p:spPr>
          <a:xfrm>
            <a:off x="1671638" y="4599087"/>
            <a:ext cx="342900" cy="342900"/>
          </a:xfrm>
          <a:prstGeom prst="rect">
            <a:avLst/>
          </a:prstGeom>
        </p:spPr>
      </p:pic>
      <p:pic>
        <p:nvPicPr>
          <p:cNvPr id="6" name="Image 1" descr="preencoded.png">    </p:cNvPr>
          <p:cNvPicPr>
            <a:picLocks noChangeAspect="1"/>
          </p:cNvPicPr>
          <p:nvPr/>
        </p:nvPicPr>
        <p:blipFill>
          <a:blip r:embed="rId2">
            <a:alphaModFix amt="90000"/>
          </a:blip>
          <a:srcRect l="0" r="0" t="0" b="0"/>
          <a:stretch/>
        </p:blipFill>
        <p:spPr>
          <a:xfrm>
            <a:off x="3757613" y="4599087"/>
            <a:ext cx="342900" cy="342900"/>
          </a:xfrm>
          <a:prstGeom prst="rect">
            <a:avLst/>
          </a:prstGeom>
        </p:spPr>
      </p:pic>
      <p:pic>
        <p:nvPicPr>
          <p:cNvPr id="7" name="Image 2" descr="preencoded.png">    </p:cNvPr>
          <p:cNvPicPr>
            <a:picLocks noChangeAspect="1"/>
          </p:cNvPicPr>
          <p:nvPr/>
        </p:nvPicPr>
        <p:blipFill>
          <a:blip r:embed="rId3">
            <a:alphaModFix amt="90000"/>
          </a:blip>
          <a:srcRect l="0" r="0" t="0" b="0"/>
          <a:stretch/>
        </p:blipFill>
        <p:spPr>
          <a:xfrm>
            <a:off x="5843588" y="4599087"/>
            <a:ext cx="342900" cy="342900"/>
          </a:xfrm>
          <a:prstGeom prst="rect">
            <a:avLst/>
          </a:prstGeom>
        </p:spPr>
      </p:pic>
      <p:pic>
        <p:nvPicPr>
          <p:cNvPr id="8" name="Image 3" descr="preencoded.png">    </p:cNvPr>
          <p:cNvPicPr>
            <a:picLocks noChangeAspect="1"/>
          </p:cNvPicPr>
          <p:nvPr/>
        </p:nvPicPr>
        <p:blipFill>
          <a:blip r:embed="rId4">
            <a:alphaModFix amt="90000"/>
          </a:blip>
          <a:srcRect l="0" r="0" t="0" b="0"/>
          <a:stretch/>
        </p:blipFill>
        <p:spPr>
          <a:xfrm>
            <a:off x="7929563" y="4599087"/>
            <a:ext cx="342900" cy="342900"/>
          </a:xfrm>
          <a:prstGeom prst="rect">
            <a:avLst/>
          </a:prstGeom>
        </p:spPr>
      </p:pic>
      <p:pic>
        <p:nvPicPr>
          <p:cNvPr id="9" name="Image 4" descr="preencoded.png">    </p:cNvPr>
          <p:cNvPicPr>
            <a:picLocks noChangeAspect="1"/>
          </p:cNvPicPr>
          <p:nvPr/>
        </p:nvPicPr>
        <p:blipFill>
          <a:blip r:embed="rId5">
            <a:alphaModFix amt="90000"/>
          </a:blip>
          <a:srcRect l="0" r="0" t="0" b="0"/>
          <a:stretch/>
        </p:blipFill>
        <p:spPr>
          <a:xfrm>
            <a:off x="10015538" y="4599087"/>
            <a:ext cx="342900" cy="342900"/>
          </a:xfrm>
          <a:prstGeom prst="rect">
            <a:avLst/>
          </a:prstGeom>
        </p:spPr>
      </p:pic>
      <p:pic>
        <p:nvPicPr>
          <p:cNvPr id="10" name="Image 5" descr="preencoded.png">    </p:cNvPr>
          <p:cNvPicPr>
            <a:picLocks noChangeAspect="1"/>
          </p:cNvPicPr>
          <p:nvPr/>
        </p:nvPicPr>
        <p:blipFill>
          <a:blip r:embed="rId6">
            <a:alphaModFix amt="90000"/>
          </a:blip>
          <a:srcRect l="0" r="0" t="0" b="0"/>
          <a:stretch/>
        </p:blipFill>
        <p:spPr>
          <a:xfrm>
            <a:off x="12101513" y="4599087"/>
            <a:ext cx="342900" cy="342900"/>
          </a:xfrm>
          <a:prstGeom prst="rect">
            <a:avLst/>
          </a:prstGeom>
        </p:spPr>
      </p:pic>
      <p:pic>
        <p:nvPicPr>
          <p:cNvPr id="11" name="Image 6" descr="preencoded.png">    </p:cNvPr>
          <p:cNvPicPr>
            <a:picLocks noChangeAspect="1"/>
          </p:cNvPicPr>
          <p:nvPr/>
        </p:nvPicPr>
        <p:blipFill>
          <a:blip r:embed="rId7">
            <a:alphaModFix amt="90000"/>
          </a:blip>
          <a:srcRect l="0" r="0" t="0" b="0"/>
          <a:stretch/>
        </p:blipFill>
        <p:spPr>
          <a:xfrm>
            <a:off x="14187488" y="4599087"/>
            <a:ext cx="342900" cy="342900"/>
          </a:xfrm>
          <a:prstGeom prst="rect">
            <a:avLst/>
          </a:prstGeom>
        </p:spPr>
      </p:pic>
      <p:pic>
        <p:nvPicPr>
          <p:cNvPr id="12" name="Image 7" descr="preencoded.png">    </p:cNvPr>
          <p:cNvPicPr>
            <a:picLocks noChangeAspect="1"/>
          </p:cNvPicPr>
          <p:nvPr/>
        </p:nvPicPr>
        <p:blipFill>
          <a:blip r:embed="rId8">
            <a:alphaModFix amt="90000"/>
          </a:blip>
          <a:srcRect l="0" r="0" t="0" b="0"/>
          <a:stretch/>
        </p:blipFill>
        <p:spPr>
          <a:xfrm>
            <a:off x="16273463" y="4599087"/>
            <a:ext cx="342900" cy="342900"/>
          </a:xfrm>
          <a:prstGeom prst="rect">
            <a:avLst/>
          </a:prstGeom>
        </p:spPr>
      </p:pic>
      <p:pic>
        <p:nvPicPr>
          <p:cNvPr id="13" name="Image 8" descr="preencoded.png">    </p:cNvPr>
          <p:cNvPicPr>
            <a:picLocks noChangeAspect="1"/>
          </p:cNvPicPr>
          <p:nvPr/>
        </p:nvPicPr>
        <p:blipFill>
          <a:blip r:embed="rId9">
            <a:alphaModFix amt="90000"/>
          </a:blip>
          <a:srcRect l="0" r="0" t="0" b="0"/>
          <a:stretch/>
        </p:blipFill>
        <p:spPr>
          <a:xfrm>
            <a:off x="1671638" y="5361087"/>
            <a:ext cx="342900" cy="342900"/>
          </a:xfrm>
          <a:prstGeom prst="rect">
            <a:avLst/>
          </a:prstGeom>
        </p:spPr>
      </p:pic>
      <p:pic>
        <p:nvPicPr>
          <p:cNvPr id="14" name="Image 9" descr="preencoded.png">    </p:cNvPr>
          <p:cNvPicPr>
            <a:picLocks noChangeAspect="1"/>
          </p:cNvPicPr>
          <p:nvPr/>
        </p:nvPicPr>
        <p:blipFill>
          <a:blip r:embed="rId10">
            <a:alphaModFix amt="90000"/>
          </a:blip>
          <a:srcRect l="0" r="0" t="0" b="0"/>
          <a:stretch/>
        </p:blipFill>
        <p:spPr>
          <a:xfrm>
            <a:off x="3757613" y="5361087"/>
            <a:ext cx="342900" cy="342900"/>
          </a:xfrm>
          <a:prstGeom prst="rect">
            <a:avLst/>
          </a:prstGeom>
        </p:spPr>
      </p:pic>
      <p:pic>
        <p:nvPicPr>
          <p:cNvPr id="15" name="Image 10" descr="preencoded.png">    </p:cNvPr>
          <p:cNvPicPr>
            <a:picLocks noChangeAspect="1"/>
          </p:cNvPicPr>
          <p:nvPr/>
        </p:nvPicPr>
        <p:blipFill>
          <a:blip r:embed="rId11">
            <a:alphaModFix amt="90000"/>
          </a:blip>
          <a:srcRect l="0" r="0" t="0" b="0"/>
          <a:stretch/>
        </p:blipFill>
        <p:spPr>
          <a:xfrm>
            <a:off x="5843588" y="5361087"/>
            <a:ext cx="342900" cy="342900"/>
          </a:xfrm>
          <a:prstGeom prst="rect">
            <a:avLst/>
          </a:prstGeom>
        </p:spPr>
      </p:pic>
      <p:pic>
        <p:nvPicPr>
          <p:cNvPr id="16" name="Image 11" descr="preencoded.png">    </p:cNvPr>
          <p:cNvPicPr>
            <a:picLocks noChangeAspect="1"/>
          </p:cNvPicPr>
          <p:nvPr/>
        </p:nvPicPr>
        <p:blipFill>
          <a:blip r:embed="rId12">
            <a:alphaModFix amt="90000"/>
          </a:blip>
          <a:srcRect l="0" r="0" t="0" b="0"/>
          <a:stretch/>
        </p:blipFill>
        <p:spPr>
          <a:xfrm>
            <a:off x="7929563" y="5361087"/>
            <a:ext cx="342900" cy="342900"/>
          </a:xfrm>
          <a:prstGeom prst="rect">
            <a:avLst/>
          </a:prstGeom>
        </p:spPr>
      </p:pic>
      <p:pic>
        <p:nvPicPr>
          <p:cNvPr id="17" name="Image 12" descr="preencoded.png">    </p:cNvPr>
          <p:cNvPicPr>
            <a:picLocks noChangeAspect="1"/>
          </p:cNvPicPr>
          <p:nvPr/>
        </p:nvPicPr>
        <p:blipFill>
          <a:blip r:embed="rId13">
            <a:alphaModFix amt="90000"/>
          </a:blip>
          <a:srcRect l="0" r="0" t="0" b="0"/>
          <a:stretch/>
        </p:blipFill>
        <p:spPr>
          <a:xfrm>
            <a:off x="10015538" y="5361087"/>
            <a:ext cx="342900" cy="342900"/>
          </a:xfrm>
          <a:prstGeom prst="rect">
            <a:avLst/>
          </a:prstGeom>
        </p:spPr>
      </p:pic>
      <p:pic>
        <p:nvPicPr>
          <p:cNvPr id="18" name="Image 13" descr="preencoded.png">    </p:cNvPr>
          <p:cNvPicPr>
            <a:picLocks noChangeAspect="1"/>
          </p:cNvPicPr>
          <p:nvPr/>
        </p:nvPicPr>
        <p:blipFill>
          <a:blip r:embed="rId14">
            <a:alphaModFix amt="90000"/>
          </a:blip>
          <a:srcRect l="0" r="0" t="0" b="0"/>
          <a:stretch/>
        </p:blipFill>
        <p:spPr>
          <a:xfrm>
            <a:off x="12101513" y="5361087"/>
            <a:ext cx="342900" cy="342900"/>
          </a:xfrm>
          <a:prstGeom prst="rect">
            <a:avLst/>
          </a:prstGeom>
        </p:spPr>
      </p:pic>
      <p:pic>
        <p:nvPicPr>
          <p:cNvPr id="19" name="Image 14" descr="preencoded.png">    </p:cNvPr>
          <p:cNvPicPr>
            <a:picLocks noChangeAspect="1"/>
          </p:cNvPicPr>
          <p:nvPr/>
        </p:nvPicPr>
        <p:blipFill>
          <a:blip r:embed="rId15">
            <a:alphaModFix amt="90000"/>
          </a:blip>
          <a:srcRect l="0" r="0" t="0" b="0"/>
          <a:stretch/>
        </p:blipFill>
        <p:spPr>
          <a:xfrm>
            <a:off x="14187488" y="5361087"/>
            <a:ext cx="342900" cy="342900"/>
          </a:xfrm>
          <a:prstGeom prst="rect">
            <a:avLst/>
          </a:prstGeom>
        </p:spPr>
      </p:pic>
      <p:pic>
        <p:nvPicPr>
          <p:cNvPr id="20" name="Image 15" descr="preencoded.png">    </p:cNvPr>
          <p:cNvPicPr>
            <a:picLocks noChangeAspect="1"/>
          </p:cNvPicPr>
          <p:nvPr/>
        </p:nvPicPr>
        <p:blipFill>
          <a:blip r:embed="rId16">
            <a:alphaModFix amt="90000"/>
          </a:blip>
          <a:srcRect l="0" r="0" t="0" b="0"/>
          <a:stretch/>
        </p:blipFill>
        <p:spPr>
          <a:xfrm>
            <a:off x="16273463" y="5361087"/>
            <a:ext cx="342900" cy="342900"/>
          </a:xfrm>
          <a:prstGeom prst="rect">
            <a:avLst/>
          </a:prstGeom>
        </p:spPr>
      </p:pic>
      <p:pic>
        <p:nvPicPr>
          <p:cNvPr id="21" name="Image 16" descr="preencoded.png">    </p:cNvPr>
          <p:cNvPicPr>
            <a:picLocks noChangeAspect="1"/>
          </p:cNvPicPr>
          <p:nvPr/>
        </p:nvPicPr>
        <p:blipFill>
          <a:blip r:embed="rId17">
            <a:alphaModFix amt="90000"/>
          </a:blip>
          <a:srcRect l="0" r="0" t="0" b="0"/>
          <a:stretch/>
        </p:blipFill>
        <p:spPr>
          <a:xfrm>
            <a:off x="1671638" y="6123087"/>
            <a:ext cx="342900" cy="342900"/>
          </a:xfrm>
          <a:prstGeom prst="rect">
            <a:avLst/>
          </a:prstGeom>
        </p:spPr>
      </p:pic>
      <p:pic>
        <p:nvPicPr>
          <p:cNvPr id="22" name="Image 17" descr="preencoded.png">    </p:cNvPr>
          <p:cNvPicPr>
            <a:picLocks noChangeAspect="1"/>
          </p:cNvPicPr>
          <p:nvPr/>
        </p:nvPicPr>
        <p:blipFill>
          <a:blip r:embed="rId18">
            <a:alphaModFix amt="90000"/>
          </a:blip>
          <a:srcRect l="0" r="0" t="0" b="0"/>
          <a:stretch/>
        </p:blipFill>
        <p:spPr>
          <a:xfrm>
            <a:off x="3757613" y="6123087"/>
            <a:ext cx="342900" cy="342900"/>
          </a:xfrm>
          <a:prstGeom prst="rect">
            <a:avLst/>
          </a:prstGeom>
        </p:spPr>
      </p:pic>
      <p:pic>
        <p:nvPicPr>
          <p:cNvPr id="23" name="Image 18" descr="preencoded.png">    </p:cNvPr>
          <p:cNvPicPr>
            <a:picLocks noChangeAspect="1"/>
          </p:cNvPicPr>
          <p:nvPr/>
        </p:nvPicPr>
        <p:blipFill>
          <a:blip r:embed="rId19">
            <a:alphaModFix amt="90000"/>
          </a:blip>
          <a:srcRect l="0" r="0" t="0" b="0"/>
          <a:stretch/>
        </p:blipFill>
        <p:spPr>
          <a:xfrm>
            <a:off x="5843588" y="6123087"/>
            <a:ext cx="342900" cy="342900"/>
          </a:xfrm>
          <a:prstGeom prst="rect">
            <a:avLst/>
          </a:prstGeom>
        </p:spPr>
      </p:pic>
      <p:pic>
        <p:nvPicPr>
          <p:cNvPr id="24" name="Image 19" descr="preencoded.png">    </p:cNvPr>
          <p:cNvPicPr>
            <a:picLocks noChangeAspect="1"/>
          </p:cNvPicPr>
          <p:nvPr/>
        </p:nvPicPr>
        <p:blipFill>
          <a:blip r:embed="rId20">
            <a:alphaModFix amt="90000"/>
          </a:blip>
          <a:srcRect l="0" r="0" t="0" b="0"/>
          <a:stretch/>
        </p:blipFill>
        <p:spPr>
          <a:xfrm>
            <a:off x="7929563" y="6123087"/>
            <a:ext cx="342900" cy="342900"/>
          </a:xfrm>
          <a:prstGeom prst="rect">
            <a:avLst/>
          </a:prstGeom>
        </p:spPr>
      </p:pic>
      <p:pic>
        <p:nvPicPr>
          <p:cNvPr id="25" name="Image 20" descr="preencoded.png">    </p:cNvPr>
          <p:cNvPicPr>
            <a:picLocks noChangeAspect="1"/>
          </p:cNvPicPr>
          <p:nvPr/>
        </p:nvPicPr>
        <p:blipFill>
          <a:blip r:embed="rId21">
            <a:alphaModFix amt="90000"/>
          </a:blip>
          <a:srcRect l="0" r="0" t="0" b="0"/>
          <a:stretch/>
        </p:blipFill>
        <p:spPr>
          <a:xfrm>
            <a:off x="10015538" y="6123087"/>
            <a:ext cx="342900" cy="342900"/>
          </a:xfrm>
          <a:prstGeom prst="rect">
            <a:avLst/>
          </a:prstGeom>
        </p:spPr>
      </p:pic>
      <p:pic>
        <p:nvPicPr>
          <p:cNvPr id="26" name="Image 21" descr="preencoded.png">    </p:cNvPr>
          <p:cNvPicPr>
            <a:picLocks noChangeAspect="1"/>
          </p:cNvPicPr>
          <p:nvPr/>
        </p:nvPicPr>
        <p:blipFill>
          <a:blip r:embed="rId22">
            <a:alphaModFix amt="90000"/>
          </a:blip>
          <a:srcRect l="0" r="0" t="0" b="0"/>
          <a:stretch/>
        </p:blipFill>
        <p:spPr>
          <a:xfrm>
            <a:off x="12101513" y="6123087"/>
            <a:ext cx="342900" cy="342900"/>
          </a:xfrm>
          <a:prstGeom prst="rect">
            <a:avLst/>
          </a:prstGeom>
        </p:spPr>
      </p:pic>
      <p:pic>
        <p:nvPicPr>
          <p:cNvPr id="27" name="Image 22" descr="preencoded.png">    </p:cNvPr>
          <p:cNvPicPr>
            <a:picLocks noChangeAspect="1"/>
          </p:cNvPicPr>
          <p:nvPr/>
        </p:nvPicPr>
        <p:blipFill>
          <a:blip r:embed="rId23">
            <a:alphaModFix amt="90000"/>
          </a:blip>
          <a:srcRect l="0" r="0" t="0" b="0"/>
          <a:stretch/>
        </p:blipFill>
        <p:spPr>
          <a:xfrm>
            <a:off x="14187488" y="6123087"/>
            <a:ext cx="342900" cy="342900"/>
          </a:xfrm>
          <a:prstGeom prst="rect">
            <a:avLst/>
          </a:prstGeom>
        </p:spPr>
      </p:pic>
      <p:pic>
        <p:nvPicPr>
          <p:cNvPr id="28" name="Image 23" descr="preencoded.png">    </p:cNvPr>
          <p:cNvPicPr>
            <a:picLocks noChangeAspect="1"/>
          </p:cNvPicPr>
          <p:nvPr/>
        </p:nvPicPr>
        <p:blipFill>
          <a:blip r:embed="rId24">
            <a:alphaModFix amt="90000"/>
          </a:blip>
          <a:srcRect l="0" r="0" t="0" b="0"/>
          <a:stretch/>
        </p:blipFill>
        <p:spPr>
          <a:xfrm>
            <a:off x="16273463" y="6123087"/>
            <a:ext cx="342900" cy="342900"/>
          </a:xfrm>
          <a:prstGeom prst="rect">
            <a:avLst/>
          </a:prstGeom>
        </p:spPr>
      </p:pic>
      <p:pic>
        <p:nvPicPr>
          <p:cNvPr id="29" name="Image 24" descr="preencoded.png">    </p:cNvPr>
          <p:cNvPicPr>
            <a:picLocks noChangeAspect="1"/>
          </p:cNvPicPr>
          <p:nvPr/>
        </p:nvPicPr>
        <p:blipFill>
          <a:blip r:embed="rId25">
            <a:alphaModFix amt="90000"/>
          </a:blip>
          <a:srcRect l="0" r="0" t="0" b="0"/>
          <a:stretch/>
        </p:blipFill>
        <p:spPr>
          <a:xfrm>
            <a:off x="1671638" y="6885087"/>
            <a:ext cx="342900" cy="342900"/>
          </a:xfrm>
          <a:prstGeom prst="rect">
            <a:avLst/>
          </a:prstGeom>
        </p:spPr>
      </p:pic>
      <p:pic>
        <p:nvPicPr>
          <p:cNvPr id="30" name="Image 25" descr="preencoded.png">    </p:cNvPr>
          <p:cNvPicPr>
            <a:picLocks noChangeAspect="1"/>
          </p:cNvPicPr>
          <p:nvPr/>
        </p:nvPicPr>
        <p:blipFill>
          <a:blip r:embed="rId26">
            <a:alphaModFix amt="90000"/>
          </a:blip>
          <a:srcRect l="0" r="0" t="0" b="0"/>
          <a:stretch/>
        </p:blipFill>
        <p:spPr>
          <a:xfrm>
            <a:off x="3757613" y="6885087"/>
            <a:ext cx="342900" cy="342900"/>
          </a:xfrm>
          <a:prstGeom prst="rect">
            <a:avLst/>
          </a:prstGeom>
        </p:spPr>
      </p:pic>
      <p:pic>
        <p:nvPicPr>
          <p:cNvPr id="31" name="Image 26" descr="preencoded.png">    </p:cNvPr>
          <p:cNvPicPr>
            <a:picLocks noChangeAspect="1"/>
          </p:cNvPicPr>
          <p:nvPr/>
        </p:nvPicPr>
        <p:blipFill>
          <a:blip r:embed="rId27">
            <a:alphaModFix amt="90000"/>
          </a:blip>
          <a:srcRect l="0" r="0" t="0" b="0"/>
          <a:stretch/>
        </p:blipFill>
        <p:spPr>
          <a:xfrm>
            <a:off x="5843588" y="6885087"/>
            <a:ext cx="342900" cy="342900"/>
          </a:xfrm>
          <a:prstGeom prst="rect">
            <a:avLst/>
          </a:prstGeom>
        </p:spPr>
      </p:pic>
      <p:pic>
        <p:nvPicPr>
          <p:cNvPr id="32" name="Image 27" descr="preencoded.png">    </p:cNvPr>
          <p:cNvPicPr>
            <a:picLocks noChangeAspect="1"/>
          </p:cNvPicPr>
          <p:nvPr/>
        </p:nvPicPr>
        <p:blipFill>
          <a:blip r:embed="rId28">
            <a:alphaModFix amt="90000"/>
          </a:blip>
          <a:srcRect l="0" r="0" t="0" b="0"/>
          <a:stretch/>
        </p:blipFill>
        <p:spPr>
          <a:xfrm>
            <a:off x="7929563" y="6885087"/>
            <a:ext cx="342900" cy="342900"/>
          </a:xfrm>
          <a:prstGeom prst="rect">
            <a:avLst/>
          </a:prstGeom>
        </p:spPr>
      </p:pic>
      <p:pic>
        <p:nvPicPr>
          <p:cNvPr id="33" name="Image 28" descr="preencoded.png">    </p:cNvPr>
          <p:cNvPicPr>
            <a:picLocks noChangeAspect="1"/>
          </p:cNvPicPr>
          <p:nvPr/>
        </p:nvPicPr>
        <p:blipFill>
          <a:blip r:embed="rId29">
            <a:alphaModFix amt="90000"/>
          </a:blip>
          <a:srcRect l="0" r="0" t="0" b="0"/>
          <a:stretch/>
        </p:blipFill>
        <p:spPr>
          <a:xfrm>
            <a:off x="10015538" y="6885087"/>
            <a:ext cx="342900" cy="342900"/>
          </a:xfrm>
          <a:prstGeom prst="rect">
            <a:avLst/>
          </a:prstGeom>
        </p:spPr>
      </p:pic>
      <p:pic>
        <p:nvPicPr>
          <p:cNvPr id="34" name="Image 29" descr="preencoded.png">    </p:cNvPr>
          <p:cNvPicPr>
            <a:picLocks noChangeAspect="1"/>
          </p:cNvPicPr>
          <p:nvPr/>
        </p:nvPicPr>
        <p:blipFill>
          <a:blip r:embed="rId30">
            <a:alphaModFix amt="90000"/>
          </a:blip>
          <a:srcRect l="0" r="0" t="0" b="0"/>
          <a:stretch/>
        </p:blipFill>
        <p:spPr>
          <a:xfrm>
            <a:off x="12101513" y="6885087"/>
            <a:ext cx="342900" cy="342900"/>
          </a:xfrm>
          <a:prstGeom prst="rect">
            <a:avLst/>
          </a:prstGeom>
        </p:spPr>
      </p:pic>
      <p:pic>
        <p:nvPicPr>
          <p:cNvPr id="35" name="Image 30" descr="preencoded.png">    </p:cNvPr>
          <p:cNvPicPr>
            <a:picLocks noChangeAspect="1"/>
          </p:cNvPicPr>
          <p:nvPr/>
        </p:nvPicPr>
        <p:blipFill>
          <a:blip r:embed="rId31">
            <a:alphaModFix amt="90000"/>
          </a:blip>
          <a:srcRect l="0" r="0" t="0" b="0"/>
          <a:stretch/>
        </p:blipFill>
        <p:spPr>
          <a:xfrm>
            <a:off x="14187488" y="6885087"/>
            <a:ext cx="342900" cy="342900"/>
          </a:xfrm>
          <a:prstGeom prst="rect">
            <a:avLst/>
          </a:prstGeom>
        </p:spPr>
      </p:pic>
      <p:pic>
        <p:nvPicPr>
          <p:cNvPr id="36" name="Image 31" descr="preencoded.png">    </p:cNvPr>
          <p:cNvPicPr>
            <a:picLocks noChangeAspect="1"/>
          </p:cNvPicPr>
          <p:nvPr/>
        </p:nvPicPr>
        <p:blipFill>
          <a:blip r:embed="rId32">
            <a:alphaModFix amt="90000"/>
          </a:blip>
          <a:srcRect l="0" r="0" t="0" b="0"/>
          <a:stretch/>
        </p:blipFill>
        <p:spPr>
          <a:xfrm>
            <a:off x="16273463" y="6885087"/>
            <a:ext cx="342900" cy="342900"/>
          </a:xfrm>
          <a:prstGeom prst="rect">
            <a:avLst/>
          </a:prstGeom>
        </p:spPr>
      </p:pic>
      <p:sp>
        <p:nvSpPr>
          <p:cNvPr id="37" name="Text 3"/>
          <p:cNvSpPr/>
          <p:nvPr/>
        </p:nvSpPr>
        <p:spPr>
          <a:xfrm>
            <a:off x="914400" y="7770912"/>
            <a:ext cx="18105120" cy="3619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90000"/>
                  </a:srgbClr>
                </a:solidFill>
                <a:latin typeface="Inter" pitchFamily="34" charset="0"/>
                <a:ea typeface="Inter" pitchFamily="34" charset="-122"/>
                <a:cs typeface="Inter" pitchFamily="34" charset="-120"/>
              </a:rPr>
              <a:t>So how do you </a:t>
            </a:r>
            <a:pPr algn="l" indent="0" marL="0">
              <a:buNone/>
            </a:pPr>
            <a:r>
              <a:rPr lang="en-US" sz="2100" i="1" dirty="0">
                <a:solidFill>
                  <a:srgbClr val="9CB2E8"/>
                </a:solidFill>
                <a:latin typeface="Inter" pitchFamily="34" charset="0"/>
                <a:ea typeface="Inter" pitchFamily="34" charset="-122"/>
                <a:cs typeface="Inter" pitchFamily="34" charset="-120"/>
              </a:rPr>
              <a:t>stand out?</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1047750" y="3840063"/>
            <a:ext cx="8669024" cy="1249561"/>
          </a:xfrm>
          <a:prstGeom prst="rect">
            <a:avLst/>
          </a:prstGeom>
          <a:noFill/>
          <a:ln/>
        </p:spPr>
        <p:txBody>
          <a:bodyPr wrap="square" lIns="25400" tIns="25400" rIns="25400" bIns="25400" rtlCol="0" anchor="t">
            <a:normAutofit/>
          </a:bodyPr>
          <a:lstStyle/>
          <a:p>
            <a:pPr algn="l" indent="0" marL="0">
              <a:lnSpc>
                <a:spcPct val="82597"/>
              </a:lnSpc>
              <a:buNone/>
            </a:pPr>
            <a:r>
              <a:rPr lang="en-US" sz="4500" b="1" spc="-90" kern="0" dirty="0">
                <a:solidFill>
                  <a:srgbClr val="1E2D4D"/>
                </a:solidFill>
                <a:latin typeface="Lora" pitchFamily="34" charset="0"/>
                <a:ea typeface="Lora" pitchFamily="34" charset="-122"/>
                <a:cs typeface="Lora" pitchFamily="34" charset="-120"/>
              </a:rPr>
              <a:t>You don't stand out on paper. You stand out through </a:t>
            </a:r>
            <a:pPr algn="l" indent="0" marL="0">
              <a:lnSpc>
                <a:spcPct val="82597"/>
              </a:lnSpc>
              <a:buNone/>
            </a:pPr>
            <a:r>
              <a:rPr lang="en-US" sz="4500" b="1" i="1" spc="-90" kern="0" dirty="0">
                <a:solidFill>
                  <a:srgbClr val="4A60A8"/>
                </a:solidFill>
                <a:latin typeface="Lora" pitchFamily="34" charset="0"/>
                <a:ea typeface="Lora" pitchFamily="34" charset="-122"/>
                <a:cs typeface="Lora" pitchFamily="34" charset="-120"/>
              </a:rPr>
              <a:t>people.</a:t>
            </a:r>
            <a:endParaRPr lang="en-US" sz="4500" dirty="0"/>
          </a:p>
        </p:txBody>
      </p:sp>
      <p:sp>
        <p:nvSpPr>
          <p:cNvPr id="3" name="Text 1"/>
          <p:cNvSpPr/>
          <p:nvPr/>
        </p:nvSpPr>
        <p:spPr>
          <a:xfrm>
            <a:off x="1047750" y="5318224"/>
            <a:ext cx="5886450" cy="1573411"/>
          </a:xfrm>
          <a:prstGeom prst="rect">
            <a:avLst/>
          </a:prstGeom>
          <a:noFill/>
          <a:ln/>
        </p:spPr>
        <p:txBody>
          <a:bodyPr wrap="square" lIns="25400" tIns="25400" rIns="25400" bIns="25400" rtlCol="0" anchor="t">
            <a:normAutofit/>
          </a:bodyPr>
          <a:lstStyle/>
          <a:p>
            <a:pPr algn="l" indent="0" marL="0">
              <a:lnSpc>
                <a:spcPct val="127937"/>
              </a:lnSpc>
              <a:buNone/>
            </a:pPr>
            <a:r>
              <a:rPr lang="en-US" sz="1950" dirty="0">
                <a:solidFill>
                  <a:srgbClr val="64748B"/>
                </a:solidFill>
                <a:latin typeface="Inter" pitchFamily="34" charset="0"/>
                <a:ea typeface="Inter" pitchFamily="34" charset="-122"/>
                <a:cs typeface="Inter" pitchFamily="34" charset="-120"/>
              </a:rPr>
              <a:t>Referrals and warm intros are the real front door. The people who land the offer aren't the best applicants, they're the ones who built a connection first.</a:t>
            </a:r>
            <a:endParaRPr lang="en-US" sz="1950" dirty="0"/>
          </a:p>
        </p:txBody>
      </p:sp>
      <p:sp>
        <p:nvSpPr>
          <p:cNvPr id="4" name="Shape 2"/>
          <p:cNvSpPr/>
          <p:nvPr/>
        </p:nvSpPr>
        <p:spPr>
          <a:xfrm>
            <a:off x="9921478" y="2894707"/>
            <a:ext cx="7318697" cy="2278261"/>
          </a:xfrm>
          <a:prstGeom prst="roundRect">
            <a:avLst>
              <a:gd name="adj" fmla="val 6689"/>
            </a:avLst>
          </a:prstGeom>
          <a:solidFill>
            <a:srgbClr val="4A60A8"/>
          </a:solidFill>
          <a:ln/>
          <a:effectLst>
            <a:outerShdw sx="100000" sy="100000" kx="0" ky="0" algn="bl" rotWithShape="0" blurRad="190500" dist="57150" dir="5400000">
              <a:srgbClr val="4A60A8">
                <a:alpha val="24000"/>
              </a:srgbClr>
            </a:outerShdw>
          </a:effectLst>
        </p:spPr>
      </p:sp>
      <p:sp>
        <p:nvSpPr>
          <p:cNvPr id="5" name="Text 3"/>
          <p:cNvSpPr/>
          <p:nvPr/>
        </p:nvSpPr>
        <p:spPr>
          <a:xfrm>
            <a:off x="10340578" y="3275707"/>
            <a:ext cx="7128547" cy="826740"/>
          </a:xfrm>
          <a:prstGeom prst="rect">
            <a:avLst/>
          </a:prstGeom>
          <a:noFill/>
          <a:ln/>
        </p:spPr>
        <p:txBody>
          <a:bodyPr wrap="square" lIns="25400" tIns="25400" rIns="25400" bIns="25400" rtlCol="0" anchor="t">
            <a:normAutofit/>
          </a:bodyPr>
          <a:lstStyle/>
          <a:p>
            <a:pPr algn="l" indent="0" marL="0">
              <a:lnSpc>
                <a:spcPct val="70468"/>
              </a:lnSpc>
              <a:buNone/>
            </a:pPr>
            <a:r>
              <a:rPr lang="en-US" sz="6900" b="1" dirty="0">
                <a:solidFill>
                  <a:srgbClr val="FFFFFF"/>
                </a:solidFill>
                <a:latin typeface="Lora" pitchFamily="34" charset="0"/>
                <a:ea typeface="Lora" pitchFamily="34" charset="-122"/>
                <a:cs typeface="Lora" pitchFamily="34" charset="-120"/>
              </a:rPr>
              <a:t>52×</a:t>
            </a:r>
            <a:endParaRPr lang="en-US" sz="6900" dirty="0"/>
          </a:p>
        </p:txBody>
      </p:sp>
      <p:sp>
        <p:nvSpPr>
          <p:cNvPr id="6" name="Text 4"/>
          <p:cNvSpPr/>
          <p:nvPr/>
        </p:nvSpPr>
        <p:spPr>
          <a:xfrm>
            <a:off x="10340578" y="4178647"/>
            <a:ext cx="6674912" cy="651421"/>
          </a:xfrm>
          <a:prstGeom prst="rect">
            <a:avLst/>
          </a:prstGeom>
          <a:noFill/>
          <a:ln/>
        </p:spPr>
        <p:txBody>
          <a:bodyPr wrap="square" lIns="25400" tIns="25400" rIns="25400" bIns="25400" rtlCol="0" anchor="t">
            <a:normAutofit/>
          </a:bodyPr>
          <a:lstStyle/>
          <a:p>
            <a:pPr algn="l" indent="0" marL="0">
              <a:lnSpc>
                <a:spcPct val="115000"/>
              </a:lnSpc>
              <a:buNone/>
            </a:pPr>
            <a:r>
              <a:rPr lang="en-US" sz="1725" dirty="0">
                <a:solidFill>
                  <a:srgbClr val="FFFFFF">
                    <a:alpha val="88000"/>
                  </a:srgbClr>
                </a:solidFill>
                <a:latin typeface="Inter" pitchFamily="34" charset="0"/>
                <a:ea typeface="Inter" pitchFamily="34" charset="-122"/>
                <a:cs typeface="Inter" pitchFamily="34" charset="-120"/>
              </a:rPr>
              <a:t>more likely to get hired through a referral or personal connection</a:t>
            </a:r>
            <a:endParaRPr lang="en-US" sz="1725" dirty="0"/>
          </a:p>
        </p:txBody>
      </p:sp>
      <p:sp>
        <p:nvSpPr>
          <p:cNvPr id="7" name="Shape 5"/>
          <p:cNvSpPr/>
          <p:nvPr/>
        </p:nvSpPr>
        <p:spPr>
          <a:xfrm>
            <a:off x="9921478" y="5401568"/>
            <a:ext cx="7318697" cy="1990651"/>
          </a:xfrm>
          <a:prstGeom prst="roundRect">
            <a:avLst>
              <a:gd name="adj" fmla="val 7656"/>
            </a:avLst>
          </a:prstGeom>
          <a:solidFill>
            <a:srgbClr val="FFFFFF"/>
          </a:solidFill>
          <a:ln w="9525">
            <a:solidFill>
              <a:srgbClr val="D4CEC7"/>
            </a:solidFill>
            <a:prstDash val="solid"/>
          </a:ln>
          <a:effectLst>
            <a:outerShdw sx="100000" sy="100000" kx="0" ky="0" algn="bl" rotWithShape="0" blurRad="152400" dist="38100" dir="5400000">
              <a:srgbClr val="1A1A1A">
                <a:alpha val="6000"/>
              </a:srgbClr>
            </a:outerShdw>
          </a:effectLst>
        </p:spPr>
      </p:sp>
      <p:sp>
        <p:nvSpPr>
          <p:cNvPr id="8" name="Text 6"/>
          <p:cNvSpPr/>
          <p:nvPr/>
        </p:nvSpPr>
        <p:spPr>
          <a:xfrm>
            <a:off x="10350103" y="5792093"/>
            <a:ext cx="7107592" cy="826740"/>
          </a:xfrm>
          <a:prstGeom prst="rect">
            <a:avLst/>
          </a:prstGeom>
          <a:noFill/>
          <a:ln/>
        </p:spPr>
        <p:txBody>
          <a:bodyPr wrap="square" lIns="25400" tIns="25400" rIns="25400" bIns="25400" rtlCol="0" anchor="t">
            <a:normAutofit/>
          </a:bodyPr>
          <a:lstStyle/>
          <a:p>
            <a:pPr algn="l" indent="0" marL="0">
              <a:lnSpc>
                <a:spcPct val="70468"/>
              </a:lnSpc>
              <a:buNone/>
            </a:pPr>
            <a:r>
              <a:rPr lang="en-US" sz="6900" b="1" dirty="0">
                <a:solidFill>
                  <a:srgbClr val="1E2D4D"/>
                </a:solidFill>
                <a:latin typeface="Lora" pitchFamily="34" charset="0"/>
                <a:ea typeface="Lora" pitchFamily="34" charset="-122"/>
                <a:cs typeface="Lora" pitchFamily="34" charset="-120"/>
              </a:rPr>
              <a:t>&lt;1%</a:t>
            </a:r>
            <a:endParaRPr lang="en-US" sz="6900" dirty="0"/>
          </a:p>
        </p:txBody>
      </p:sp>
      <p:sp>
        <p:nvSpPr>
          <p:cNvPr id="9" name="Text 7"/>
          <p:cNvSpPr/>
          <p:nvPr/>
        </p:nvSpPr>
        <p:spPr>
          <a:xfrm>
            <a:off x="10350103" y="6695033"/>
            <a:ext cx="7107592" cy="344760"/>
          </a:xfrm>
          <a:prstGeom prst="rect">
            <a:avLst/>
          </a:prstGeom>
          <a:noFill/>
          <a:ln/>
        </p:spPr>
        <p:txBody>
          <a:bodyPr wrap="square" lIns="25400" tIns="25400" rIns="25400" bIns="25400" rtlCol="0" anchor="t">
            <a:normAutofit/>
          </a:bodyPr>
          <a:lstStyle/>
          <a:p>
            <a:pPr algn="l" indent="0" marL="0">
              <a:lnSpc>
                <a:spcPct val="115000"/>
              </a:lnSpc>
              <a:buNone/>
            </a:pPr>
            <a:r>
              <a:rPr lang="en-US" sz="1725" dirty="0">
                <a:solidFill>
                  <a:srgbClr val="64748B"/>
                </a:solidFill>
                <a:latin typeface="Inter" pitchFamily="34" charset="0"/>
                <a:ea typeface="Inter" pitchFamily="34" charset="-122"/>
                <a:cs typeface="Inter" pitchFamily="34" charset="-120"/>
              </a:rPr>
              <a:t>of job seekers actually get a referral before they apply</a:t>
            </a:r>
            <a:endParaRPr lang="en-US" sz="17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1047750" y="3206725"/>
            <a:ext cx="17811750" cy="216173"/>
          </a:xfrm>
          <a:prstGeom prst="rect">
            <a:avLst/>
          </a:prstGeom>
          <a:noFill/>
          <a:ln/>
        </p:spPr>
        <p:txBody>
          <a:bodyPr wrap="square" lIns="25400" tIns="25400" rIns="25400" bIns="25400" rtlCol="0" anchor="t">
            <a:normAutofit/>
          </a:bodyPr>
          <a:lstStyle/>
          <a:p>
            <a:pPr algn="l" indent="0" marL="0">
              <a:lnSpc>
                <a:spcPct val="91220"/>
              </a:lnSpc>
              <a:buNone/>
            </a:pPr>
            <a:r>
              <a:rPr lang="en-US" sz="1275" b="1" spc="127" kern="0" dirty="0">
                <a:solidFill>
                  <a:srgbClr val="E07A3E"/>
                </a:solidFill>
                <a:latin typeface="Inter" pitchFamily="34" charset="0"/>
                <a:ea typeface="Inter" pitchFamily="34" charset="-122"/>
                <a:cs typeface="Inter" pitchFamily="34" charset="-120"/>
              </a:rPr>
              <a:t>BUT CONNECTING TAKES TIME</a:t>
            </a:r>
            <a:endParaRPr lang="en-US" sz="1275" dirty="0"/>
          </a:p>
        </p:txBody>
      </p:sp>
      <p:sp>
        <p:nvSpPr>
          <p:cNvPr id="3" name="Text 1"/>
          <p:cNvSpPr/>
          <p:nvPr/>
        </p:nvSpPr>
        <p:spPr>
          <a:xfrm>
            <a:off x="1047750" y="3575298"/>
            <a:ext cx="17811750" cy="614139"/>
          </a:xfrm>
          <a:prstGeom prst="rect">
            <a:avLst/>
          </a:prstGeom>
          <a:noFill/>
          <a:ln/>
        </p:spPr>
        <p:txBody>
          <a:bodyPr wrap="square" lIns="25400" tIns="25400" rIns="25400" bIns="25400" rtlCol="0" anchor="t">
            <a:normAutofit/>
          </a:bodyPr>
          <a:lstStyle/>
          <a:p>
            <a:pPr algn="l" indent="0" marL="0">
              <a:lnSpc>
                <a:spcPct val="84000"/>
              </a:lnSpc>
              <a:buNone/>
            </a:pPr>
            <a:r>
              <a:rPr lang="en-US" sz="4200" b="1" spc="-84" kern="0" dirty="0">
                <a:solidFill>
                  <a:srgbClr val="FFFFFF"/>
                </a:solidFill>
                <a:latin typeface="Lora" pitchFamily="34" charset="0"/>
                <a:ea typeface="Lora" pitchFamily="34" charset="-122"/>
                <a:cs typeface="Lora" pitchFamily="34" charset="-120"/>
              </a:rPr>
              <a:t>A recruiting cycle eats </a:t>
            </a:r>
            <a:pPr algn="l" indent="0" marL="0">
              <a:lnSpc>
                <a:spcPct val="84000"/>
              </a:lnSpc>
              <a:buNone/>
            </a:pPr>
            <a:r>
              <a:rPr lang="en-US" sz="4200" b="1" i="1" spc="-84" kern="0" dirty="0">
                <a:solidFill>
                  <a:srgbClr val="9CB2E8"/>
                </a:solidFill>
                <a:latin typeface="Lora" pitchFamily="34" charset="0"/>
                <a:ea typeface="Lora" pitchFamily="34" charset="-122"/>
                <a:cs typeface="Lora" pitchFamily="34" charset="-120"/>
              </a:rPr>
              <a:t>200 hours </a:t>
            </a:r>
            <a:pPr algn="l" indent="0" marL="0">
              <a:lnSpc>
                <a:spcPct val="84000"/>
              </a:lnSpc>
              <a:buNone/>
            </a:pPr>
            <a:r>
              <a:rPr lang="en-US" sz="4200" b="1" spc="-84" kern="0" dirty="0">
                <a:solidFill>
                  <a:srgbClr val="FFFFFF"/>
                </a:solidFill>
                <a:latin typeface="Lora" pitchFamily="34" charset="0"/>
                <a:ea typeface="Lora" pitchFamily="34" charset="-122"/>
                <a:cs typeface="Lora" pitchFamily="34" charset="-120"/>
              </a:rPr>
              <a:t>of your life.</a:t>
            </a:r>
            <a:endParaRPr lang="en-US" sz="4200" dirty="0"/>
          </a:p>
        </p:txBody>
      </p:sp>
      <p:sp>
        <p:nvSpPr>
          <p:cNvPr id="4" name="Text 2"/>
          <p:cNvSpPr/>
          <p:nvPr/>
        </p:nvSpPr>
        <p:spPr>
          <a:xfrm>
            <a:off x="1047750" y="4284687"/>
            <a:ext cx="17811750" cy="319088"/>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72000"/>
                  </a:srgbClr>
                </a:solidFill>
                <a:latin typeface="Inter" pitchFamily="34" charset="0"/>
                <a:ea typeface="Inter" pitchFamily="34" charset="-122"/>
                <a:cs typeface="Inter" pitchFamily="34" charset="-120"/>
              </a:rPr>
              <a:t>180 of those 200 hours is busywork a computer could do. </a:t>
            </a:r>
            <a:pPr algn="l" indent="0" marL="0">
              <a:buNone/>
            </a:pPr>
            <a:r>
              <a:rPr lang="en-US" sz="1800" b="1" dirty="0">
                <a:solidFill>
                  <a:srgbClr val="FFFFFF"/>
                </a:solidFill>
                <a:latin typeface="Inter" pitchFamily="34" charset="0"/>
                <a:ea typeface="Inter" pitchFamily="34" charset="-122"/>
                <a:cs typeface="Inter" pitchFamily="34" charset="-120"/>
              </a:rPr>
              <a:t>Offerloop does it in minutes.</a:t>
            </a:r>
            <a:endParaRPr lang="en-US" sz="1800" dirty="0"/>
          </a:p>
        </p:txBody>
      </p:sp>
      <p:sp>
        <p:nvSpPr>
          <p:cNvPr id="5" name="Shape 3"/>
          <p:cNvSpPr/>
          <p:nvPr/>
        </p:nvSpPr>
        <p:spPr>
          <a:xfrm>
            <a:off x="1047750" y="4946675"/>
            <a:ext cx="6324600" cy="914400"/>
          </a:xfrm>
          <a:prstGeom prst="rect">
            <a:avLst/>
          </a:prstGeom>
          <a:solidFill>
            <a:srgbClr val="34457A"/>
          </a:solidFill>
          <a:ln/>
        </p:spPr>
      </p:sp>
      <p:sp>
        <p:nvSpPr>
          <p:cNvPr id="6" name="Text 4"/>
          <p:cNvSpPr/>
          <p:nvPr/>
        </p:nvSpPr>
        <p:spPr>
          <a:xfrm>
            <a:off x="1276350" y="5144319"/>
            <a:ext cx="6705600" cy="323850"/>
          </a:xfrm>
          <a:prstGeom prst="rect">
            <a:avLst/>
          </a:prstGeom>
          <a:noFill/>
          <a:ln/>
        </p:spPr>
        <p:txBody>
          <a:bodyPr wrap="square" lIns="25400" tIns="25400" rIns="25400" bIns="25400" rtlCol="0" anchor="t">
            <a:normAutofit/>
          </a:bodyPr>
          <a:lstStyle/>
          <a:p>
            <a:pPr algn="l" indent="0" marL="0">
              <a:lnSpc>
                <a:spcPct val="78947"/>
              </a:lnSpc>
              <a:buNone/>
            </a:pPr>
            <a:r>
              <a:rPr lang="en-US" sz="2250" b="1" dirty="0">
                <a:solidFill>
                  <a:srgbClr val="FFFFFF"/>
                </a:solidFill>
                <a:latin typeface="Lora" pitchFamily="34" charset="0"/>
                <a:ea typeface="Lora" pitchFamily="34" charset="-122"/>
                <a:cs typeface="Lora" pitchFamily="34" charset="-120"/>
              </a:rPr>
              <a:t>80h</a:t>
            </a:r>
            <a:endParaRPr lang="en-US" sz="2250" dirty="0"/>
          </a:p>
        </p:txBody>
      </p:sp>
      <p:sp>
        <p:nvSpPr>
          <p:cNvPr id="7" name="Text 5"/>
          <p:cNvSpPr/>
          <p:nvPr/>
        </p:nvSpPr>
        <p:spPr>
          <a:xfrm>
            <a:off x="1276350" y="5468169"/>
            <a:ext cx="6705600" cy="233362"/>
          </a:xfrm>
          <a:prstGeom prst="rect">
            <a:avLst/>
          </a:prstGeom>
          <a:noFill/>
          <a:ln/>
        </p:spPr>
        <p:txBody>
          <a:bodyPr wrap="square" lIns="25400" tIns="25400" rIns="25400" bIns="25400" rtlCol="0" anchor="t">
            <a:normAutofit/>
          </a:bodyPr>
          <a:lstStyle/>
          <a:p>
            <a:pPr algn="l" indent="0" marL="0">
              <a:buNone/>
            </a:pPr>
            <a:r>
              <a:rPr lang="en-US" sz="1275" dirty="0">
                <a:solidFill>
                  <a:srgbClr val="FFFFFF">
                    <a:alpha val="85000"/>
                  </a:srgbClr>
                </a:solidFill>
                <a:latin typeface="Inter" pitchFamily="34" charset="0"/>
                <a:ea typeface="Inter" pitchFamily="34" charset="-122"/>
                <a:cs typeface="Inter" pitchFamily="34" charset="-120"/>
              </a:rPr>
              <a:t>Outreach</a:t>
            </a:r>
            <a:endParaRPr lang="en-US" sz="1275" dirty="0"/>
          </a:p>
        </p:txBody>
      </p:sp>
      <p:sp>
        <p:nvSpPr>
          <p:cNvPr id="8" name="Shape 6"/>
          <p:cNvSpPr/>
          <p:nvPr/>
        </p:nvSpPr>
        <p:spPr>
          <a:xfrm>
            <a:off x="7372350" y="4946675"/>
            <a:ext cx="4019550" cy="914400"/>
          </a:xfrm>
          <a:prstGeom prst="rect">
            <a:avLst/>
          </a:prstGeom>
          <a:solidFill>
            <a:srgbClr val="4A60A8"/>
          </a:solidFill>
          <a:ln/>
        </p:spPr>
      </p:sp>
      <p:sp>
        <p:nvSpPr>
          <p:cNvPr id="9" name="Text 7"/>
          <p:cNvSpPr/>
          <p:nvPr/>
        </p:nvSpPr>
        <p:spPr>
          <a:xfrm>
            <a:off x="7581900" y="5144319"/>
            <a:ext cx="4191000" cy="323850"/>
          </a:xfrm>
          <a:prstGeom prst="rect">
            <a:avLst/>
          </a:prstGeom>
          <a:noFill/>
          <a:ln/>
        </p:spPr>
        <p:txBody>
          <a:bodyPr wrap="square" lIns="25400" tIns="25400" rIns="25400" bIns="25400" rtlCol="0" anchor="t">
            <a:normAutofit/>
          </a:bodyPr>
          <a:lstStyle/>
          <a:p>
            <a:pPr algn="l" indent="0" marL="0">
              <a:lnSpc>
                <a:spcPct val="78947"/>
              </a:lnSpc>
              <a:buNone/>
            </a:pPr>
            <a:r>
              <a:rPr lang="en-US" sz="2250" b="1" dirty="0">
                <a:solidFill>
                  <a:srgbClr val="FFFFFF"/>
                </a:solidFill>
                <a:latin typeface="Lora" pitchFamily="34" charset="0"/>
                <a:ea typeface="Lora" pitchFamily="34" charset="-122"/>
                <a:cs typeface="Lora" pitchFamily="34" charset="-120"/>
              </a:rPr>
              <a:t>50h</a:t>
            </a:r>
            <a:endParaRPr lang="en-US" sz="2250" dirty="0"/>
          </a:p>
        </p:txBody>
      </p:sp>
      <p:sp>
        <p:nvSpPr>
          <p:cNvPr id="10" name="Text 8"/>
          <p:cNvSpPr/>
          <p:nvPr/>
        </p:nvSpPr>
        <p:spPr>
          <a:xfrm>
            <a:off x="7581900" y="5468169"/>
            <a:ext cx="4191000" cy="233362"/>
          </a:xfrm>
          <a:prstGeom prst="rect">
            <a:avLst/>
          </a:prstGeom>
          <a:noFill/>
          <a:ln/>
        </p:spPr>
        <p:txBody>
          <a:bodyPr wrap="square" lIns="25400" tIns="25400" rIns="25400" bIns="25400" rtlCol="0" anchor="t">
            <a:normAutofit/>
          </a:bodyPr>
          <a:lstStyle/>
          <a:p>
            <a:pPr algn="l" indent="0" marL="0">
              <a:buNone/>
            </a:pPr>
            <a:r>
              <a:rPr lang="en-US" sz="1275" dirty="0">
                <a:solidFill>
                  <a:srgbClr val="FFFFFF">
                    <a:alpha val="85000"/>
                  </a:srgbClr>
                </a:solidFill>
                <a:latin typeface="Inter" pitchFamily="34" charset="0"/>
                <a:ea typeface="Inter" pitchFamily="34" charset="-122"/>
                <a:cs typeface="Inter" pitchFamily="34" charset="-120"/>
              </a:rPr>
              <a:t>Research</a:t>
            </a:r>
            <a:endParaRPr lang="en-US" sz="1275" dirty="0"/>
          </a:p>
        </p:txBody>
      </p:sp>
      <p:sp>
        <p:nvSpPr>
          <p:cNvPr id="11" name="Shape 9"/>
          <p:cNvSpPr/>
          <p:nvPr/>
        </p:nvSpPr>
        <p:spPr>
          <a:xfrm>
            <a:off x="11391900" y="4946675"/>
            <a:ext cx="3257550" cy="914400"/>
          </a:xfrm>
          <a:prstGeom prst="rect">
            <a:avLst/>
          </a:prstGeom>
          <a:solidFill>
            <a:srgbClr val="3C4F8E"/>
          </a:solidFill>
          <a:ln/>
        </p:spPr>
      </p:sp>
      <p:sp>
        <p:nvSpPr>
          <p:cNvPr id="12" name="Text 10"/>
          <p:cNvSpPr/>
          <p:nvPr/>
        </p:nvSpPr>
        <p:spPr>
          <a:xfrm>
            <a:off x="11601450" y="5144319"/>
            <a:ext cx="3352800" cy="323850"/>
          </a:xfrm>
          <a:prstGeom prst="rect">
            <a:avLst/>
          </a:prstGeom>
          <a:noFill/>
          <a:ln/>
        </p:spPr>
        <p:txBody>
          <a:bodyPr wrap="square" lIns="25400" tIns="25400" rIns="25400" bIns="25400" rtlCol="0" anchor="t">
            <a:normAutofit/>
          </a:bodyPr>
          <a:lstStyle/>
          <a:p>
            <a:pPr algn="l" indent="0" marL="0">
              <a:lnSpc>
                <a:spcPct val="78947"/>
              </a:lnSpc>
              <a:buNone/>
            </a:pPr>
            <a:r>
              <a:rPr lang="en-US" sz="2250" b="1" dirty="0">
                <a:solidFill>
                  <a:srgbClr val="FFFFFF"/>
                </a:solidFill>
                <a:latin typeface="Lora" pitchFamily="34" charset="0"/>
                <a:ea typeface="Lora" pitchFamily="34" charset="-122"/>
                <a:cs typeface="Lora" pitchFamily="34" charset="-120"/>
              </a:rPr>
              <a:t>40h</a:t>
            </a:r>
            <a:endParaRPr lang="en-US" sz="2250" dirty="0"/>
          </a:p>
        </p:txBody>
      </p:sp>
      <p:sp>
        <p:nvSpPr>
          <p:cNvPr id="13" name="Text 11"/>
          <p:cNvSpPr/>
          <p:nvPr/>
        </p:nvSpPr>
        <p:spPr>
          <a:xfrm>
            <a:off x="11601450" y="5468169"/>
            <a:ext cx="3352800" cy="233362"/>
          </a:xfrm>
          <a:prstGeom prst="rect">
            <a:avLst/>
          </a:prstGeom>
          <a:noFill/>
          <a:ln/>
        </p:spPr>
        <p:txBody>
          <a:bodyPr wrap="square" lIns="25400" tIns="25400" rIns="25400" bIns="25400" rtlCol="0" anchor="t">
            <a:normAutofit/>
          </a:bodyPr>
          <a:lstStyle/>
          <a:p>
            <a:pPr algn="l" indent="0" marL="0">
              <a:buNone/>
            </a:pPr>
            <a:r>
              <a:rPr lang="en-US" sz="1275" dirty="0">
                <a:solidFill>
                  <a:srgbClr val="FFFFFF">
                    <a:alpha val="85000"/>
                  </a:srgbClr>
                </a:solidFill>
                <a:latin typeface="Inter" pitchFamily="34" charset="0"/>
                <a:ea typeface="Inter" pitchFamily="34" charset="-122"/>
                <a:cs typeface="Inter" pitchFamily="34" charset="-120"/>
              </a:rPr>
              <a:t>Applications</a:t>
            </a:r>
            <a:endParaRPr lang="en-US" sz="1275" dirty="0"/>
          </a:p>
        </p:txBody>
      </p:sp>
      <p:sp>
        <p:nvSpPr>
          <p:cNvPr id="14" name="Shape 12"/>
          <p:cNvSpPr/>
          <p:nvPr/>
        </p:nvSpPr>
        <p:spPr>
          <a:xfrm>
            <a:off x="14649450" y="4946675"/>
            <a:ext cx="1695450" cy="914400"/>
          </a:xfrm>
          <a:prstGeom prst="rect">
            <a:avLst/>
          </a:prstGeom>
          <a:solidFill>
            <a:srgbClr val="B6C3E8"/>
          </a:solidFill>
          <a:ln/>
        </p:spPr>
      </p:sp>
      <p:sp>
        <p:nvSpPr>
          <p:cNvPr id="15" name="Text 13"/>
          <p:cNvSpPr/>
          <p:nvPr/>
        </p:nvSpPr>
        <p:spPr>
          <a:xfrm>
            <a:off x="14820900" y="5180037"/>
            <a:ext cx="1676400" cy="285750"/>
          </a:xfrm>
          <a:prstGeom prst="rect">
            <a:avLst/>
          </a:prstGeom>
          <a:noFill/>
          <a:ln/>
        </p:spPr>
        <p:txBody>
          <a:bodyPr wrap="square" lIns="25400" tIns="25400" rIns="25400" bIns="25400" rtlCol="0" anchor="t">
            <a:normAutofit/>
          </a:bodyPr>
          <a:lstStyle/>
          <a:p>
            <a:pPr algn="l" indent="0" marL="0">
              <a:lnSpc>
                <a:spcPct val="78788"/>
              </a:lnSpc>
              <a:buNone/>
            </a:pPr>
            <a:r>
              <a:rPr lang="en-US" sz="1950" b="1" dirty="0">
                <a:solidFill>
                  <a:srgbClr val="1E2D4D"/>
                </a:solidFill>
                <a:latin typeface="Lora" pitchFamily="34" charset="0"/>
                <a:ea typeface="Lora" pitchFamily="34" charset="-122"/>
                <a:cs typeface="Lora" pitchFamily="34" charset="-120"/>
              </a:rPr>
              <a:t>20h</a:t>
            </a:r>
            <a:endParaRPr lang="en-US" sz="1950" dirty="0"/>
          </a:p>
        </p:txBody>
      </p:sp>
      <p:sp>
        <p:nvSpPr>
          <p:cNvPr id="16" name="Text 14"/>
          <p:cNvSpPr/>
          <p:nvPr/>
        </p:nvSpPr>
        <p:spPr>
          <a:xfrm>
            <a:off x="14820900" y="5465787"/>
            <a:ext cx="1676400" cy="200025"/>
          </a:xfrm>
          <a:prstGeom prst="rect">
            <a:avLst/>
          </a:prstGeom>
          <a:noFill/>
          <a:ln/>
        </p:spPr>
        <p:txBody>
          <a:bodyPr wrap="square" lIns="25400" tIns="25400" rIns="25400" bIns="25400" rtlCol="0" anchor="t">
            <a:normAutofit/>
          </a:bodyPr>
          <a:lstStyle/>
          <a:p>
            <a:pPr algn="l" indent="0" marL="0">
              <a:buNone/>
            </a:pPr>
            <a:r>
              <a:rPr lang="en-US" sz="1050" dirty="0">
                <a:solidFill>
                  <a:srgbClr val="1E2D4D">
                    <a:alpha val="85000"/>
                  </a:srgbClr>
                </a:solidFill>
                <a:latin typeface="Inter" pitchFamily="34" charset="0"/>
                <a:ea typeface="Inter" pitchFamily="34" charset="-122"/>
                <a:cs typeface="Inter" pitchFamily="34" charset="-120"/>
              </a:rPr>
              <a:t>Tracking</a:t>
            </a:r>
            <a:endParaRPr lang="en-US" sz="1050" dirty="0"/>
          </a:p>
        </p:txBody>
      </p:sp>
      <p:sp>
        <p:nvSpPr>
          <p:cNvPr id="17" name="Shape 15"/>
          <p:cNvSpPr/>
          <p:nvPr/>
        </p:nvSpPr>
        <p:spPr>
          <a:xfrm>
            <a:off x="16344900" y="4946675"/>
            <a:ext cx="895350" cy="914400"/>
          </a:xfrm>
          <a:prstGeom prst="rect">
            <a:avLst/>
          </a:prstGeom>
          <a:solidFill>
            <a:srgbClr val="FFFFFF">
              <a:alpha val="18000"/>
            </a:srgbClr>
          </a:solidFill>
          <a:ln/>
        </p:spPr>
      </p:sp>
      <p:sp>
        <p:nvSpPr>
          <p:cNvPr id="18" name="Text 16"/>
          <p:cNvSpPr/>
          <p:nvPr/>
        </p:nvSpPr>
        <p:spPr>
          <a:xfrm>
            <a:off x="16478250" y="5299100"/>
            <a:ext cx="838200" cy="247650"/>
          </a:xfrm>
          <a:prstGeom prst="rect">
            <a:avLst/>
          </a:prstGeom>
          <a:noFill/>
          <a:ln/>
        </p:spPr>
        <p:txBody>
          <a:bodyPr wrap="square" lIns="25400" tIns="25400" rIns="25400" bIns="25400" rtlCol="0" anchor="t">
            <a:normAutofit/>
          </a:bodyPr>
          <a:lstStyle/>
          <a:p>
            <a:pPr algn="l" indent="0" marL="0">
              <a:lnSpc>
                <a:spcPct val="78571"/>
              </a:lnSpc>
              <a:buNone/>
            </a:pPr>
            <a:r>
              <a:rPr lang="en-US" sz="1650" b="1" dirty="0">
                <a:solidFill>
                  <a:srgbClr val="FFFFFF"/>
                </a:solidFill>
                <a:latin typeface="Lora" pitchFamily="34" charset="0"/>
                <a:ea typeface="Lora" pitchFamily="34" charset="-122"/>
                <a:cs typeface="Lora" pitchFamily="34" charset="-120"/>
              </a:rPr>
              <a:t>10h</a:t>
            </a:r>
            <a:endParaRPr lang="en-US" sz="1650" dirty="0"/>
          </a:p>
        </p:txBody>
      </p:sp>
      <p:sp>
        <p:nvSpPr>
          <p:cNvPr id="19" name="Shape 17"/>
          <p:cNvSpPr/>
          <p:nvPr/>
        </p:nvSpPr>
        <p:spPr>
          <a:xfrm>
            <a:off x="1047750" y="6094437"/>
            <a:ext cx="6278761" cy="19050"/>
          </a:xfrm>
          <a:prstGeom prst="rect">
            <a:avLst/>
          </a:prstGeom>
          <a:solidFill>
            <a:srgbClr val="E07A3E"/>
          </a:solidFill>
          <a:ln/>
        </p:spPr>
      </p:sp>
      <p:sp>
        <p:nvSpPr>
          <p:cNvPr id="20" name="Text 18"/>
          <p:cNvSpPr/>
          <p:nvPr/>
        </p:nvSpPr>
        <p:spPr>
          <a:xfrm>
            <a:off x="7440811" y="5994425"/>
            <a:ext cx="2856347" cy="257175"/>
          </a:xfrm>
          <a:prstGeom prst="rect">
            <a:avLst/>
          </a:prstGeom>
          <a:noFill/>
          <a:ln/>
        </p:spPr>
        <p:txBody>
          <a:bodyPr wrap="none" lIns="25400" tIns="25400" rIns="25400" bIns="25400" rtlCol="0" anchor="t">
            <a:normAutofit/>
          </a:bodyPr>
          <a:lstStyle/>
          <a:p>
            <a:pPr algn="l" indent="0" marL="0">
              <a:buNone/>
            </a:pPr>
            <a:r>
              <a:rPr lang="en-US" sz="1425" b="1" dirty="0">
                <a:solidFill>
                  <a:srgbClr val="E07A3E"/>
                </a:solidFill>
                <a:latin typeface="Inter" pitchFamily="34" charset="0"/>
                <a:ea typeface="Inter" pitchFamily="34" charset="-122"/>
                <a:cs typeface="Inter" pitchFamily="34" charset="-120"/>
              </a:rPr>
              <a:t>180h of busywork, automated</a:t>
            </a:r>
            <a:endParaRPr lang="en-US" sz="1425" dirty="0"/>
          </a:p>
        </p:txBody>
      </p:sp>
      <p:sp>
        <p:nvSpPr>
          <p:cNvPr id="21" name="Shape 19"/>
          <p:cNvSpPr/>
          <p:nvPr/>
        </p:nvSpPr>
        <p:spPr>
          <a:xfrm>
            <a:off x="10151790" y="6094437"/>
            <a:ext cx="6278835" cy="19050"/>
          </a:xfrm>
          <a:prstGeom prst="rect">
            <a:avLst/>
          </a:prstGeom>
          <a:solidFill>
            <a:srgbClr val="E07A3E"/>
          </a:solidFill>
          <a:ln/>
        </p:spPr>
      </p:sp>
      <p:sp>
        <p:nvSpPr>
          <p:cNvPr id="22" name="Text 20"/>
          <p:cNvSpPr/>
          <p:nvPr/>
        </p:nvSpPr>
        <p:spPr>
          <a:xfrm>
            <a:off x="16392525" y="5994425"/>
            <a:ext cx="885825" cy="257175"/>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Inter" pitchFamily="34" charset="0"/>
                <a:ea typeface="Inter" pitchFamily="34" charset="-122"/>
                <a:cs typeface="Inter" pitchFamily="34" charset="-120"/>
              </a:rPr>
              <a:t>Interviews</a:t>
            </a:r>
            <a:endParaRPr lang="en-US" sz="1200" dirty="0"/>
          </a:p>
        </p:txBody>
      </p:sp>
      <p:sp>
        <p:nvSpPr>
          <p:cNvPr id="23" name="Text 21"/>
          <p:cNvSpPr/>
          <p:nvPr/>
        </p:nvSpPr>
        <p:spPr>
          <a:xfrm>
            <a:off x="1047750" y="6594500"/>
            <a:ext cx="4205133" cy="523875"/>
          </a:xfrm>
          <a:prstGeom prst="rect">
            <a:avLst/>
          </a:prstGeom>
          <a:noFill/>
          <a:ln/>
        </p:spPr>
        <p:txBody>
          <a:bodyPr wrap="square" lIns="25400" tIns="25400" rIns="25400" bIns="25400" rtlCol="0" anchor="t">
            <a:normAutofit/>
          </a:bodyPr>
          <a:lstStyle/>
          <a:p>
            <a:pPr algn="l" indent="0" marL="0">
              <a:buNone/>
            </a:pPr>
            <a:r>
              <a:rPr lang="en-US" sz="3000" b="1" dirty="0">
                <a:solidFill>
                  <a:srgbClr val="FFFFFF"/>
                </a:solidFill>
                <a:latin typeface="Lora" pitchFamily="34" charset="0"/>
                <a:ea typeface="Lora" pitchFamily="34" charset="-122"/>
                <a:cs typeface="Lora" pitchFamily="34" charset="-120"/>
              </a:rPr>
              <a:t>15 min </a:t>
            </a:r>
            <a:pPr algn="l" indent="0" marL="0">
              <a:buNone/>
            </a:pPr>
            <a:r>
              <a:rPr lang="en-US" sz="1500" dirty="0">
                <a:solidFill>
                  <a:srgbClr val="FFFFFF">
                    <a:alpha val="70000"/>
                  </a:srgbClr>
                </a:solidFill>
                <a:latin typeface="Inter" pitchFamily="34" charset="0"/>
                <a:ea typeface="Inter" pitchFamily="34" charset="-122"/>
                <a:cs typeface="Inter" pitchFamily="34" charset="-120"/>
              </a:rPr>
              <a:t>to write one personalized email</a:t>
            </a:r>
            <a:endParaRPr lang="en-US" sz="1200" dirty="0"/>
          </a:p>
        </p:txBody>
      </p:sp>
      <p:sp>
        <p:nvSpPr>
          <p:cNvPr id="24" name="Text 22"/>
          <p:cNvSpPr/>
          <p:nvPr/>
        </p:nvSpPr>
        <p:spPr>
          <a:xfrm>
            <a:off x="5663803" y="6594500"/>
            <a:ext cx="3347382" cy="523875"/>
          </a:xfrm>
          <a:prstGeom prst="rect">
            <a:avLst/>
          </a:prstGeom>
          <a:noFill/>
          <a:ln/>
        </p:spPr>
        <p:txBody>
          <a:bodyPr wrap="square" lIns="25400" tIns="25400" rIns="25400" bIns="25400" rtlCol="0" anchor="t">
            <a:normAutofit/>
          </a:bodyPr>
          <a:lstStyle/>
          <a:p>
            <a:pPr algn="l" indent="0" marL="0">
              <a:buNone/>
            </a:pPr>
            <a:r>
              <a:rPr lang="en-US" sz="3000" b="1" dirty="0">
                <a:solidFill>
                  <a:srgbClr val="FFFFFF"/>
                </a:solidFill>
                <a:latin typeface="Lora" pitchFamily="34" charset="0"/>
                <a:ea typeface="Lora" pitchFamily="34" charset="-122"/>
                <a:cs typeface="Lora" pitchFamily="34" charset="-120"/>
              </a:rPr>
              <a:t>2 hrs </a:t>
            </a:r>
            <a:pPr algn="l" indent="0" marL="0">
              <a:buNone/>
            </a:pPr>
            <a:r>
              <a:rPr lang="en-US" sz="1500" dirty="0">
                <a:solidFill>
                  <a:srgbClr val="FFFFFF">
                    <a:alpha val="70000"/>
                  </a:srgbClr>
                </a:solidFill>
                <a:latin typeface="Inter" pitchFamily="34" charset="0"/>
                <a:ea typeface="Inter" pitchFamily="34" charset="-122"/>
                <a:cs typeface="Inter" pitchFamily="34" charset="-120"/>
              </a:rPr>
              <a:t>of work for a single reply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6547E">
                  <a:alpha val="55000"/>
                </a:srgbClr>
              </a:gs>
              <a:gs pos="46000">
                <a:srgbClr val="46547E">
                  <a:alpha val="0"/>
                </a:srgbClr>
              </a:gs>
            </a:gsLst>
            <a:path path="circle">
              <a:fillToRect l="50000" t="40000" r="50000" b="60000"/>
            </a:path>
          </a:gradFill>
          <a:ln/>
        </p:spPr>
      </p:sp>
      <p:sp>
        <p:nvSpPr>
          <p:cNvPr id="3" name="Shape 1"/>
          <p:cNvSpPr/>
          <p:nvPr/>
        </p:nvSpPr>
        <p:spPr>
          <a:xfrm>
            <a:off x="4389090" y="2674590"/>
            <a:ext cx="47625" cy="47625"/>
          </a:xfrm>
          <a:prstGeom prst="ellipse">
            <a:avLst/>
          </a:prstGeom>
          <a:solidFill>
            <a:srgbClr val="FFFFFF">
              <a:alpha val="70000"/>
            </a:srgbClr>
          </a:solidFill>
          <a:ln/>
          <a:effectLst>
            <a:outerShdw sx="100000" sy="100000" kx="0" ky="0" algn="bl" rotWithShape="0" blurRad="76200" dist="50800" dir="16200000">
              <a:srgbClr val="FFFFFF">
                <a:alpha val="35000"/>
              </a:srgbClr>
            </a:outerShdw>
          </a:effectLst>
        </p:spPr>
      </p:sp>
      <p:sp>
        <p:nvSpPr>
          <p:cNvPr id="4" name="Shape 2"/>
          <p:cNvSpPr/>
          <p:nvPr/>
        </p:nvSpPr>
        <p:spPr>
          <a:xfrm>
            <a:off x="13167345" y="2057400"/>
            <a:ext cx="57150" cy="57150"/>
          </a:xfrm>
          <a:prstGeom prst="ellipse">
            <a:avLst/>
          </a:prstGeom>
          <a:solidFill>
            <a:srgbClr val="FFFFFF">
              <a:alpha val="80000"/>
            </a:srgbClr>
          </a:solidFill>
          <a:ln/>
          <a:effectLst>
            <a:outerShdw sx="100000" sy="100000" kx="0" ky="0" algn="bl" rotWithShape="0" blurRad="76200" dist="50800" dir="16200000">
              <a:srgbClr val="FFFFFF">
                <a:alpha val="40000"/>
              </a:srgbClr>
            </a:outerShdw>
          </a:effectLst>
        </p:spPr>
      </p:sp>
      <p:sp>
        <p:nvSpPr>
          <p:cNvPr id="5" name="Shape 3"/>
          <p:cNvSpPr/>
          <p:nvPr/>
        </p:nvSpPr>
        <p:spPr>
          <a:xfrm>
            <a:off x="14630400" y="4526235"/>
            <a:ext cx="38100" cy="38100"/>
          </a:xfrm>
          <a:prstGeom prst="ellipse">
            <a:avLst/>
          </a:prstGeom>
          <a:solidFill>
            <a:srgbClr val="FFFFFF">
              <a:alpha val="60000"/>
            </a:srgbClr>
          </a:solidFill>
          <a:ln/>
          <a:effectLst>
            <a:outerShdw sx="100000" sy="100000" kx="0" ky="0" algn="bl" rotWithShape="0" blurRad="76200" dist="50800" dir="16200000">
              <a:srgbClr val="FFFFFF">
                <a:alpha val="30000"/>
              </a:srgbClr>
            </a:outerShdw>
          </a:effectLst>
        </p:spPr>
      </p:sp>
      <p:sp>
        <p:nvSpPr>
          <p:cNvPr id="6" name="Shape 4"/>
          <p:cNvSpPr/>
          <p:nvPr/>
        </p:nvSpPr>
        <p:spPr>
          <a:xfrm>
            <a:off x="5486400" y="5966445"/>
            <a:ext cx="38100" cy="38100"/>
          </a:xfrm>
          <a:prstGeom prst="ellipse">
            <a:avLst/>
          </a:prstGeom>
          <a:solidFill>
            <a:srgbClr val="FFFFFF">
              <a:alpha val="55000"/>
            </a:srgbClr>
          </a:solidFill>
          <a:ln/>
          <a:effectLst>
            <a:outerShdw sx="100000" sy="100000" kx="0" ky="0" algn="bl" rotWithShape="0" blurRad="76200" dist="50800" dir="16200000">
              <a:srgbClr val="FFFFFF">
                <a:alpha val="27500"/>
              </a:srgbClr>
            </a:outerShdw>
          </a:effectLst>
        </p:spPr>
      </p:sp>
      <p:sp>
        <p:nvSpPr>
          <p:cNvPr id="7" name="Shape 5"/>
          <p:cNvSpPr/>
          <p:nvPr/>
        </p:nvSpPr>
        <p:spPr>
          <a:xfrm>
            <a:off x="11887200" y="6583635"/>
            <a:ext cx="47625" cy="47625"/>
          </a:xfrm>
          <a:prstGeom prst="ellipse">
            <a:avLst/>
          </a:prstGeom>
          <a:solidFill>
            <a:srgbClr val="FFFFFF">
              <a:alpha val="60000"/>
            </a:srgbClr>
          </a:solidFill>
          <a:ln/>
          <a:effectLst>
            <a:outerShdw sx="100000" sy="100000" kx="0" ky="0" algn="bl" rotWithShape="0" blurRad="76200" dist="50800" dir="16200000">
              <a:srgbClr val="FFFFFF">
                <a:alpha val="30000"/>
              </a:srgbClr>
            </a:outerShdw>
          </a:effectLst>
        </p:spPr>
      </p:sp>
      <p:sp>
        <p:nvSpPr>
          <p:cNvPr id="8" name="Shape 6"/>
          <p:cNvSpPr/>
          <p:nvPr/>
        </p:nvSpPr>
        <p:spPr>
          <a:xfrm>
            <a:off x="3291780" y="4320480"/>
            <a:ext cx="28575" cy="28575"/>
          </a:xfrm>
          <a:prstGeom prst="ellipse">
            <a:avLst/>
          </a:prstGeom>
          <a:solidFill>
            <a:srgbClr val="FFFFFF">
              <a:alpha val="50000"/>
            </a:srgbClr>
          </a:solidFill>
          <a:ln/>
          <a:effectLst>
            <a:outerShdw sx="100000" sy="100000" kx="0" ky="0" algn="bl" rotWithShape="0" blurRad="76200" dist="50800" dir="16200000">
              <a:srgbClr val="FFFFFF">
                <a:alpha val="25000"/>
              </a:srgbClr>
            </a:outerShdw>
          </a:effectLst>
        </p:spPr>
      </p:sp>
      <p:sp>
        <p:nvSpPr>
          <p:cNvPr id="9" name="Shape 7"/>
          <p:cNvSpPr/>
          <p:nvPr/>
        </p:nvSpPr>
        <p:spPr>
          <a:xfrm>
            <a:off x="15361890" y="6172200"/>
            <a:ext cx="28575" cy="28575"/>
          </a:xfrm>
          <a:prstGeom prst="ellipse">
            <a:avLst/>
          </a:prstGeom>
          <a:solidFill>
            <a:srgbClr val="FFFFFF">
              <a:alpha val="50000"/>
            </a:srgbClr>
          </a:solidFill>
          <a:ln/>
          <a:effectLst>
            <a:outerShdw sx="100000" sy="100000" kx="0" ky="0" algn="bl" rotWithShape="0" blurRad="76200" dist="50800" dir="16200000">
              <a:srgbClr val="FFFFFF">
                <a:alpha val="25000"/>
              </a:srgbClr>
            </a:outerShdw>
          </a:effectLst>
        </p:spPr>
      </p:sp>
      <p:sp>
        <p:nvSpPr>
          <p:cNvPr id="10" name="Shape 8"/>
          <p:cNvSpPr/>
          <p:nvPr/>
        </p:nvSpPr>
        <p:spPr>
          <a:xfrm>
            <a:off x="7315200" y="1851645"/>
            <a:ext cx="28575" cy="28575"/>
          </a:xfrm>
          <a:prstGeom prst="ellipse">
            <a:avLst/>
          </a:prstGeom>
          <a:solidFill>
            <a:srgbClr val="FFFFFF">
              <a:alpha val="50000"/>
            </a:srgbClr>
          </a:solidFill>
          <a:ln/>
          <a:effectLst>
            <a:outerShdw sx="100000" sy="100000" kx="0" ky="0" algn="bl" rotWithShape="0" blurRad="76200" dist="50800" dir="16200000">
              <a:srgbClr val="FFFFFF">
                <a:alpha val="25000"/>
              </a:srgbClr>
            </a:outerShdw>
          </a:effectLst>
        </p:spPr>
      </p:sp>
      <p:sp>
        <p:nvSpPr>
          <p:cNvPr id="11" name="Shape 9"/>
          <p:cNvSpPr/>
          <p:nvPr/>
        </p:nvSpPr>
        <p:spPr>
          <a:xfrm>
            <a:off x="10606980" y="3086100"/>
            <a:ext cx="38100" cy="38100"/>
          </a:xfrm>
          <a:prstGeom prst="ellipse">
            <a:avLst/>
          </a:prstGeom>
          <a:solidFill>
            <a:srgbClr val="FFFFFF">
              <a:alpha val="55000"/>
            </a:srgbClr>
          </a:solidFill>
          <a:ln/>
          <a:effectLst>
            <a:outerShdw sx="100000" sy="100000" kx="0" ky="0" algn="bl" rotWithShape="0" blurRad="76200" dist="50800" dir="16200000">
              <a:srgbClr val="FFFFFF">
                <a:alpha val="27500"/>
              </a:srgbClr>
            </a:outerShdw>
          </a:effectLst>
        </p:spPr>
      </p:sp>
      <p:sp>
        <p:nvSpPr>
          <p:cNvPr id="12" name="Shape 10"/>
          <p:cNvSpPr/>
          <p:nvPr/>
        </p:nvSpPr>
        <p:spPr>
          <a:xfrm>
            <a:off x="13898835" y="7406580"/>
            <a:ext cx="38100" cy="38100"/>
          </a:xfrm>
          <a:prstGeom prst="ellipse">
            <a:avLst/>
          </a:prstGeom>
          <a:solidFill>
            <a:srgbClr val="FFFFFF">
              <a:alpha val="50000"/>
            </a:srgbClr>
          </a:solidFill>
          <a:ln/>
          <a:effectLst>
            <a:outerShdw sx="100000" sy="100000" kx="0" ky="0" algn="bl" rotWithShape="0" blurRad="76200" dist="50800" dir="16200000">
              <a:srgbClr val="FFFFFF">
                <a:alpha val="25000"/>
              </a:srgbClr>
            </a:outerShdw>
          </a:effectLst>
        </p:spPr>
      </p:sp>
      <p:sp>
        <p:nvSpPr>
          <p:cNvPr id="13" name="Shape 11"/>
          <p:cNvSpPr/>
          <p:nvPr/>
        </p:nvSpPr>
        <p:spPr>
          <a:xfrm>
            <a:off x="7143750" y="2345531"/>
            <a:ext cx="4000500" cy="4000500"/>
          </a:xfrm>
          <a:prstGeom prst="ellipse">
            <a:avLst/>
          </a:prstGeom>
          <a:gradFill rotWithShape="1">
            <a:gsLst>
              <a:gs pos="0">
                <a:srgbClr val="FFF4D6">
                  <a:alpha val="30000"/>
                </a:srgbClr>
              </a:gs>
              <a:gs pos="45000">
                <a:srgbClr val="96A8DE">
                  <a:alpha val="10000"/>
                </a:srgbClr>
              </a:gs>
              <a:gs pos="70000">
                <a:srgbClr val="96A8DE">
                  <a:alpha val="0"/>
                </a:srgbClr>
              </a:gs>
            </a:gsLst>
            <a:path path="circle">
              <a:fillToRect l="50000" t="45000" r="50000" b="55000"/>
            </a:path>
          </a:gradFill>
          <a:ln/>
        </p:spPr>
      </p:sp>
      <p:sp>
        <p:nvSpPr>
          <p:cNvPr id="14" name="Shape 12"/>
          <p:cNvSpPr/>
          <p:nvPr/>
        </p:nvSpPr>
        <p:spPr>
          <a:xfrm>
            <a:off x="7572375" y="2774156"/>
            <a:ext cx="3143250" cy="3143250"/>
          </a:xfrm>
          <a:prstGeom prst="ellipse">
            <a:avLst/>
          </a:prstGeom>
          <a:gradFill rotWithShape="1">
            <a:gsLst>
              <a:gs pos="0">
                <a:srgbClr val="FFF7E4">
                  <a:alpha val="100000"/>
                </a:srgbClr>
              </a:gs>
              <a:gs pos="38000">
                <a:srgbClr val="FCEBC6">
                  <a:alpha val="100000"/>
                </a:srgbClr>
              </a:gs>
              <a:gs pos="68000">
                <a:srgbClr val="FCE9C0">
                  <a:alpha val="35000"/>
                </a:srgbClr>
              </a:gs>
              <a:gs pos="100000">
                <a:srgbClr val="FCE9C0">
                  <a:alpha val="0"/>
                </a:srgbClr>
              </a:gs>
            </a:gsLst>
            <a:path path="circle">
              <a:fillToRect l="50000" t="42000" r="50000" b="58000"/>
            </a:path>
          </a:gradFill>
          <a:ln/>
          <a:effectLst>
            <a:outerShdw sx="100000" sy="100000" kx="0" ky="0" algn="bl" rotWithShape="0" blurRad="857250" dist="50800" dir="16200000">
              <a:srgbClr val="FFF0CD">
                <a:alpha val="34000"/>
              </a:srgbClr>
            </a:outerShdw>
          </a:effectLst>
        </p:spPr>
      </p:sp>
      <p:pic>
        <p:nvPicPr>
          <p:cNvPr id="15" name="Image 0" descr="preencoded.png">    </p:cNvPr>
          <p:cNvPicPr>
            <a:picLocks noChangeAspect="1"/>
          </p:cNvPicPr>
          <p:nvPr/>
        </p:nvPicPr>
        <p:blipFill>
          <a:blip r:embed="rId1"/>
          <a:srcRect l="0" r="0" t="0" b="0"/>
          <a:stretch/>
        </p:blipFill>
        <p:spPr>
          <a:xfrm>
            <a:off x="7715250" y="3076628"/>
            <a:ext cx="2857500" cy="3022104"/>
          </a:xfrm>
          <a:prstGeom prst="rect">
            <a:avLst/>
          </a:prstGeom>
        </p:spPr>
      </p:pic>
      <p:sp>
        <p:nvSpPr>
          <p:cNvPr id="16" name="Shape 13"/>
          <p:cNvSpPr/>
          <p:nvPr/>
        </p:nvSpPr>
        <p:spPr>
          <a:xfrm rot="-1440002">
            <a:off x="6877050" y="3317081"/>
            <a:ext cx="4533899" cy="2057399"/>
          </a:xfrm>
          <a:prstGeom prst="roundRect">
            <a:avLst>
              <a:gd name="adj" fmla="val 50000"/>
            </a:avLst>
          </a:prstGeom>
          <a:ln w="28575">
            <a:solidFill>
              <a:srgbClr val="A0B2E8">
                <a:alpha val="55000"/>
              </a:srgbClr>
            </a:solidFill>
            <a:prstDash val="solid"/>
          </a:ln>
          <a:effectLst>
            <a:outerShdw sx="100000" sy="100000" kx="0" ky="0" algn="bl" rotWithShape="0" blurRad="228600" dist="50800" dir="16200000">
              <a:srgbClr val="96A8DE">
                <a:alpha val="35000"/>
              </a:srgbClr>
            </a:outerShdw>
          </a:effectLst>
        </p:spPr>
      </p:sp>
      <p:sp>
        <p:nvSpPr>
          <p:cNvPr id="17" name="Shape 14"/>
          <p:cNvSpPr/>
          <p:nvPr/>
        </p:nvSpPr>
        <p:spPr>
          <a:xfrm rot="1320001">
            <a:off x="6877049" y="3412331"/>
            <a:ext cx="4533901" cy="1866901"/>
          </a:xfrm>
          <a:prstGeom prst="roundRect">
            <a:avLst>
              <a:gd name="adj" fmla="val 50000"/>
            </a:avLst>
          </a:prstGeom>
          <a:ln w="28575">
            <a:solidFill>
              <a:srgbClr val="BECDF5">
                <a:alpha val="45000"/>
              </a:srgbClr>
            </a:solidFill>
            <a:prstDash val="solid"/>
          </a:ln>
          <a:effectLst>
            <a:outerShdw sx="100000" sy="100000" kx="0" ky="0" algn="bl" rotWithShape="0" blurRad="228600" dist="50800" dir="16200000">
              <a:srgbClr val="96A8DE">
                <a:alpha val="30000"/>
              </a:srgbClr>
            </a:outerShdw>
          </a:effectLst>
        </p:spPr>
      </p:sp>
      <p:sp>
        <p:nvSpPr>
          <p:cNvPr id="18" name="Text 15"/>
          <p:cNvSpPr/>
          <p:nvPr/>
        </p:nvSpPr>
        <p:spPr>
          <a:xfrm>
            <a:off x="7985671" y="6879431"/>
            <a:ext cx="2548324" cy="914400"/>
          </a:xfrm>
          <a:prstGeom prst="rect">
            <a:avLst/>
          </a:prstGeom>
          <a:noFill/>
          <a:ln/>
        </p:spPr>
        <p:txBody>
          <a:bodyPr wrap="square" lIns="25400" tIns="25400" rIns="25400" bIns="25400" rtlCol="0" anchor="t">
            <a:normAutofit/>
          </a:bodyPr>
          <a:lstStyle/>
          <a:p>
            <a:pPr algn="l" indent="0" marL="0">
              <a:lnSpc>
                <a:spcPct val="78298"/>
              </a:lnSpc>
              <a:buNone/>
            </a:pPr>
            <a:r>
              <a:rPr lang="en-US" sz="6900" b="1" spc="-69" kern="0" dirty="0">
                <a:solidFill>
                  <a:srgbClr val="F7F1E6"/>
                </a:solidFill>
                <a:latin typeface="Lora" pitchFamily="34" charset="0"/>
                <a:ea typeface="Lora" pitchFamily="34" charset="-122"/>
                <a:cs typeface="Lora" pitchFamily="34" charset="-120"/>
              </a:rPr>
              <a:t>Scout</a:t>
            </a:r>
            <a:endParaRPr lang="en-US" sz="6900" dirty="0"/>
          </a:p>
        </p:txBody>
      </p:sp>
      <p:sp>
        <p:nvSpPr>
          <p:cNvPr id="19" name="Text 16"/>
          <p:cNvSpPr/>
          <p:nvPr/>
        </p:nvSpPr>
        <p:spPr>
          <a:xfrm>
            <a:off x="7365429" y="7927181"/>
            <a:ext cx="3912773" cy="338138"/>
          </a:xfrm>
          <a:prstGeom prst="rect">
            <a:avLst/>
          </a:prstGeom>
          <a:noFill/>
          <a:ln/>
        </p:spPr>
        <p:txBody>
          <a:bodyPr wrap="square" lIns="25400" tIns="25400" rIns="25400" bIns="25400" rtlCol="0" anchor="t">
            <a:normAutofit/>
          </a:bodyPr>
          <a:lstStyle/>
          <a:p>
            <a:pPr algn="l" indent="0" marL="0">
              <a:buNone/>
            </a:pPr>
            <a:r>
              <a:rPr lang="en-US" sz="1950" dirty="0">
                <a:solidFill>
                  <a:srgbClr val="B4C3E8">
                    <a:alpha val="82000"/>
                  </a:srgbClr>
                </a:solidFill>
                <a:latin typeface="Inter" pitchFamily="34" charset="0"/>
                <a:ea typeface="Inter" pitchFamily="34" charset="-122"/>
                <a:cs typeface="Inter" pitchFamily="34" charset="-120"/>
              </a:rPr>
              <a:t>Your fully autonomous copilot.</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Text 0"/>
          <p:cNvSpPr/>
          <p:nvPr/>
        </p:nvSpPr>
        <p:spPr>
          <a:xfrm>
            <a:off x="857250" y="2784946"/>
            <a:ext cx="8790868" cy="233362"/>
          </a:xfrm>
          <a:prstGeom prst="rect">
            <a:avLst/>
          </a:prstGeom>
          <a:noFill/>
          <a:ln/>
        </p:spPr>
        <p:txBody>
          <a:bodyPr wrap="square" lIns="25400" tIns="25400" rIns="25400" bIns="25400" rtlCol="0" anchor="t">
            <a:normAutofit/>
          </a:bodyPr>
          <a:lstStyle/>
          <a:p>
            <a:pPr algn="l" indent="0" marL="0">
              <a:buNone/>
            </a:pPr>
            <a:r>
              <a:rPr lang="en-US" sz="1275" b="1" spc="204" kern="0" dirty="0">
                <a:solidFill>
                  <a:srgbClr val="9CB2E8"/>
                </a:solidFill>
                <a:latin typeface="Inter" pitchFamily="34" charset="0"/>
                <a:ea typeface="Inter" pitchFamily="34" charset="-122"/>
                <a:cs typeface="Inter" pitchFamily="34" charset="-120"/>
              </a:rPr>
              <a:t>MEET SCOUT · YOUR COPILOT</a:t>
            </a:r>
            <a:endParaRPr lang="en-US" sz="1275" dirty="0"/>
          </a:p>
        </p:txBody>
      </p:sp>
      <p:sp>
        <p:nvSpPr>
          <p:cNvPr id="4" name="Text 1"/>
          <p:cNvSpPr/>
          <p:nvPr/>
        </p:nvSpPr>
        <p:spPr>
          <a:xfrm>
            <a:off x="857250" y="3170709"/>
            <a:ext cx="8231449" cy="1333054"/>
          </a:xfrm>
          <a:prstGeom prst="rect">
            <a:avLst/>
          </a:prstGeom>
          <a:noFill/>
          <a:ln/>
        </p:spPr>
        <p:txBody>
          <a:bodyPr wrap="square" lIns="25400" tIns="25400" rIns="25400" bIns="25400" rtlCol="0" anchor="t">
            <a:normAutofit/>
          </a:bodyPr>
          <a:lstStyle/>
          <a:p>
            <a:pPr algn="l" indent="0" marL="0">
              <a:lnSpc>
                <a:spcPct val="80450"/>
              </a:lnSpc>
              <a:buNone/>
            </a:pPr>
            <a:r>
              <a:rPr lang="en-US" sz="4950" b="1" spc="-99" kern="0" dirty="0">
                <a:solidFill>
                  <a:srgbClr val="F5F0EB"/>
                </a:solidFill>
                <a:latin typeface="Lora" pitchFamily="34" charset="0"/>
                <a:ea typeface="Lora" pitchFamily="34" charset="-122"/>
                <a:cs typeface="Lora" pitchFamily="34" charset="-120"/>
              </a:rPr>
              <a:t>Just describe what you're </a:t>
            </a:r>
            <a:pPr algn="l" indent="0" marL="0">
              <a:lnSpc>
                <a:spcPct val="80450"/>
              </a:lnSpc>
              <a:buNone/>
            </a:pPr>
            <a:r>
              <a:rPr lang="en-US" sz="4950" b="1" i="1" spc="-99" kern="0" dirty="0">
                <a:solidFill>
                  <a:srgbClr val="96A8DE"/>
                </a:solidFill>
                <a:latin typeface="Lora" pitchFamily="34" charset="0"/>
                <a:ea typeface="Lora" pitchFamily="34" charset="-122"/>
                <a:cs typeface="Lora" pitchFamily="34" charset="-120"/>
              </a:rPr>
              <a:t>after.</a:t>
            </a:r>
            <a:endParaRPr lang="en-US" sz="4950" dirty="0"/>
          </a:p>
        </p:txBody>
      </p:sp>
      <p:sp>
        <p:nvSpPr>
          <p:cNvPr id="5" name="Text 2"/>
          <p:cNvSpPr/>
          <p:nvPr/>
        </p:nvSpPr>
        <p:spPr>
          <a:xfrm>
            <a:off x="857250" y="4713312"/>
            <a:ext cx="5494020" cy="1455241"/>
          </a:xfrm>
          <a:prstGeom prst="rect">
            <a:avLst/>
          </a:prstGeom>
          <a:noFill/>
          <a:ln/>
        </p:spPr>
        <p:txBody>
          <a:bodyPr wrap="square" lIns="25400" tIns="25400" rIns="25400" bIns="25400" rtlCol="0" anchor="t">
            <a:normAutofit/>
          </a:bodyPr>
          <a:lstStyle/>
          <a:p>
            <a:pPr algn="l" indent="0" marL="0">
              <a:lnSpc>
                <a:spcPct val="126102"/>
              </a:lnSpc>
              <a:buNone/>
            </a:pPr>
            <a:r>
              <a:rPr lang="en-US" sz="1800" dirty="0">
                <a:solidFill>
                  <a:srgbClr val="C4CEE8">
                    <a:alpha val="82000"/>
                  </a:srgbClr>
                </a:solidFill>
                <a:latin typeface="Inter" pitchFamily="34" charset="0"/>
                <a:ea typeface="Inter" pitchFamily="34" charset="-122"/>
                <a:cs typeface="Inter" pitchFamily="34" charset="-120"/>
              </a:rPr>
              <a:t>Tell Scout what you want in plain English: a role, a company, a person. It does the busywork of finding the people, writing the outreach, and tracking every conversation.</a:t>
            </a:r>
            <a:endParaRPr lang="en-US" sz="1800" dirty="0"/>
          </a:p>
        </p:txBody>
      </p:sp>
      <p:sp>
        <p:nvSpPr>
          <p:cNvPr id="6" name="Shape 3"/>
          <p:cNvSpPr/>
          <p:nvPr/>
        </p:nvSpPr>
        <p:spPr>
          <a:xfrm>
            <a:off x="857250" y="6416204"/>
            <a:ext cx="888206" cy="461963"/>
          </a:xfrm>
          <a:prstGeom prst="roundRect">
            <a:avLst>
              <a:gd name="adj" fmla="val 50000"/>
            </a:avLst>
          </a:prstGeom>
          <a:solidFill>
            <a:srgbClr val="FFFFFF">
              <a:alpha val="6000"/>
            </a:srgbClr>
          </a:solidFill>
          <a:ln w="9525">
            <a:solidFill>
              <a:srgbClr val="FFFFFF">
                <a:alpha val="22000"/>
              </a:srgbClr>
            </a:solidFill>
            <a:prstDash val="solid"/>
          </a:ln>
        </p:spPr>
      </p:sp>
      <p:sp>
        <p:nvSpPr>
          <p:cNvPr id="7" name="Text 4"/>
          <p:cNvSpPr/>
          <p:nvPr/>
        </p:nvSpPr>
        <p:spPr>
          <a:xfrm>
            <a:off x="1076325" y="6530504"/>
            <a:ext cx="526256" cy="271463"/>
          </a:xfrm>
          <a:prstGeom prst="rect">
            <a:avLst/>
          </a:prstGeom>
          <a:noFill/>
          <a:ln/>
        </p:spPr>
        <p:txBody>
          <a:bodyPr wrap="square" lIns="25400" tIns="25400" rIns="25400" bIns="25400" rtlCol="0" anchor="t">
            <a:normAutofit/>
          </a:bodyPr>
          <a:lstStyle/>
          <a:p>
            <a:pPr algn="l" indent="0" marL="0">
              <a:buNone/>
            </a:pPr>
            <a:r>
              <a:rPr lang="en-US" sz="1500" b="1" dirty="0">
                <a:solidFill>
                  <a:srgbClr val="E7ECF8"/>
                </a:solidFill>
                <a:latin typeface="Inter" pitchFamily="34" charset="0"/>
                <a:ea typeface="Inter" pitchFamily="34" charset="-122"/>
                <a:cs typeface="Inter" pitchFamily="34" charset="-120"/>
              </a:rPr>
              <a:t>Jobs</a:t>
            </a:r>
            <a:endParaRPr lang="en-US" sz="1500" dirty="0"/>
          </a:p>
        </p:txBody>
      </p:sp>
      <p:sp>
        <p:nvSpPr>
          <p:cNvPr id="8" name="Shape 5"/>
          <p:cNvSpPr/>
          <p:nvPr/>
        </p:nvSpPr>
        <p:spPr>
          <a:xfrm>
            <a:off x="1859756" y="6416204"/>
            <a:ext cx="1959397" cy="461963"/>
          </a:xfrm>
          <a:prstGeom prst="roundRect">
            <a:avLst>
              <a:gd name="adj" fmla="val 50000"/>
            </a:avLst>
          </a:prstGeom>
          <a:solidFill>
            <a:srgbClr val="FFFFFF">
              <a:alpha val="6000"/>
            </a:srgbClr>
          </a:solidFill>
          <a:ln w="9525">
            <a:solidFill>
              <a:srgbClr val="FFFFFF">
                <a:alpha val="22000"/>
              </a:srgbClr>
            </a:solidFill>
            <a:prstDash val="solid"/>
          </a:ln>
        </p:spPr>
      </p:sp>
      <p:sp>
        <p:nvSpPr>
          <p:cNvPr id="9" name="Text 6"/>
          <p:cNvSpPr/>
          <p:nvPr/>
        </p:nvSpPr>
        <p:spPr>
          <a:xfrm>
            <a:off x="2078831" y="6530504"/>
            <a:ext cx="1597447" cy="271463"/>
          </a:xfrm>
          <a:prstGeom prst="rect">
            <a:avLst/>
          </a:prstGeom>
          <a:noFill/>
          <a:ln/>
        </p:spPr>
        <p:txBody>
          <a:bodyPr wrap="square" lIns="25400" tIns="25400" rIns="25400" bIns="25400" rtlCol="0" anchor="t">
            <a:normAutofit/>
          </a:bodyPr>
          <a:lstStyle/>
          <a:p>
            <a:pPr algn="l" indent="0" marL="0">
              <a:buNone/>
            </a:pPr>
            <a:r>
              <a:rPr lang="en-US" sz="1500" b="1" dirty="0">
                <a:solidFill>
                  <a:srgbClr val="E7ECF8"/>
                </a:solidFill>
                <a:latin typeface="Inter" pitchFamily="34" charset="0"/>
                <a:ea typeface="Inter" pitchFamily="34" charset="-122"/>
                <a:cs typeface="Inter" pitchFamily="34" charset="-120"/>
              </a:rPr>
              <a:t>Hiring managers</a:t>
            </a:r>
            <a:endParaRPr lang="en-US" sz="1500" dirty="0"/>
          </a:p>
        </p:txBody>
      </p:sp>
      <p:sp>
        <p:nvSpPr>
          <p:cNvPr id="10" name="Shape 7"/>
          <p:cNvSpPr/>
          <p:nvPr/>
        </p:nvSpPr>
        <p:spPr>
          <a:xfrm>
            <a:off x="3933453" y="6416204"/>
            <a:ext cx="1069702" cy="461963"/>
          </a:xfrm>
          <a:prstGeom prst="roundRect">
            <a:avLst>
              <a:gd name="adj" fmla="val 50000"/>
            </a:avLst>
          </a:prstGeom>
          <a:solidFill>
            <a:srgbClr val="FFFFFF">
              <a:alpha val="6000"/>
            </a:srgbClr>
          </a:solidFill>
          <a:ln w="9525">
            <a:solidFill>
              <a:srgbClr val="FFFFFF">
                <a:alpha val="22000"/>
              </a:srgbClr>
            </a:solidFill>
            <a:prstDash val="solid"/>
          </a:ln>
        </p:spPr>
      </p:sp>
      <p:sp>
        <p:nvSpPr>
          <p:cNvPr id="11" name="Text 8"/>
          <p:cNvSpPr/>
          <p:nvPr/>
        </p:nvSpPr>
        <p:spPr>
          <a:xfrm>
            <a:off x="4152528" y="6530504"/>
            <a:ext cx="707752" cy="271463"/>
          </a:xfrm>
          <a:prstGeom prst="rect">
            <a:avLst/>
          </a:prstGeom>
          <a:noFill/>
          <a:ln/>
        </p:spPr>
        <p:txBody>
          <a:bodyPr wrap="square" lIns="25400" tIns="25400" rIns="25400" bIns="25400" rtlCol="0" anchor="t">
            <a:normAutofit/>
          </a:bodyPr>
          <a:lstStyle/>
          <a:p>
            <a:pPr algn="l" indent="0" marL="0">
              <a:buNone/>
            </a:pPr>
            <a:r>
              <a:rPr lang="en-US" sz="1500" b="1" dirty="0">
                <a:solidFill>
                  <a:srgbClr val="E7ECF8"/>
                </a:solidFill>
                <a:latin typeface="Inter" pitchFamily="34" charset="0"/>
                <a:ea typeface="Inter" pitchFamily="34" charset="-122"/>
                <a:cs typeface="Inter" pitchFamily="34" charset="-120"/>
              </a:rPr>
              <a:t>People</a:t>
            </a:r>
            <a:endParaRPr lang="en-US" sz="1500" dirty="0"/>
          </a:p>
        </p:txBody>
      </p:sp>
      <p:sp>
        <p:nvSpPr>
          <p:cNvPr id="12" name="Shape 9"/>
          <p:cNvSpPr/>
          <p:nvPr/>
        </p:nvSpPr>
        <p:spPr>
          <a:xfrm>
            <a:off x="5117455" y="6416204"/>
            <a:ext cx="1479872" cy="461963"/>
          </a:xfrm>
          <a:prstGeom prst="roundRect">
            <a:avLst>
              <a:gd name="adj" fmla="val 50000"/>
            </a:avLst>
          </a:prstGeom>
          <a:solidFill>
            <a:srgbClr val="FFFFFF">
              <a:alpha val="6000"/>
            </a:srgbClr>
          </a:solidFill>
          <a:ln w="9525">
            <a:solidFill>
              <a:srgbClr val="FFFFFF">
                <a:alpha val="22000"/>
              </a:srgbClr>
            </a:solidFill>
            <a:prstDash val="solid"/>
          </a:ln>
        </p:spPr>
      </p:sp>
      <p:sp>
        <p:nvSpPr>
          <p:cNvPr id="13" name="Text 10"/>
          <p:cNvSpPr/>
          <p:nvPr/>
        </p:nvSpPr>
        <p:spPr>
          <a:xfrm>
            <a:off x="5336530" y="6530504"/>
            <a:ext cx="1117922" cy="271463"/>
          </a:xfrm>
          <a:prstGeom prst="rect">
            <a:avLst/>
          </a:prstGeom>
          <a:noFill/>
          <a:ln/>
        </p:spPr>
        <p:txBody>
          <a:bodyPr wrap="square" lIns="25400" tIns="25400" rIns="25400" bIns="25400" rtlCol="0" anchor="t">
            <a:normAutofit/>
          </a:bodyPr>
          <a:lstStyle/>
          <a:p>
            <a:pPr algn="l" indent="0" marL="0">
              <a:buNone/>
            </a:pPr>
            <a:r>
              <a:rPr lang="en-US" sz="1500" b="1" dirty="0">
                <a:solidFill>
                  <a:srgbClr val="E7ECF8"/>
                </a:solidFill>
                <a:latin typeface="Inter" pitchFamily="34" charset="0"/>
                <a:ea typeface="Inter" pitchFamily="34" charset="-122"/>
                <a:cs typeface="Inter" pitchFamily="34" charset="-120"/>
              </a:rPr>
              <a:t>Companies</a:t>
            </a:r>
            <a:endParaRPr lang="en-US" sz="1500" dirty="0"/>
          </a:p>
        </p:txBody>
      </p:sp>
      <p:pic>
        <p:nvPicPr>
          <p:cNvPr id="14" name="Image 1" descr="preencoded.png">    </p:cNvPr>
          <p:cNvPicPr>
            <a:picLocks noChangeAspect="1"/>
          </p:cNvPicPr>
          <p:nvPr/>
        </p:nvPicPr>
        <p:blipFill>
          <a:blip r:embed="rId2"/>
          <a:stretch>
            <a:fillRect/>
          </a:stretch>
        </p:blipFill>
        <p:spPr>
          <a:xfrm>
            <a:off x="8372698" y="4958655"/>
            <a:ext cx="2701826" cy="2857500"/>
          </a:xfrm>
          <a:prstGeom prst="rect">
            <a:avLst/>
          </a:prstGeom>
        </p:spPr>
      </p:pic>
      <p:sp>
        <p:nvSpPr>
          <p:cNvPr id="15" name="Shape 11"/>
          <p:cNvSpPr/>
          <p:nvPr/>
        </p:nvSpPr>
        <p:spPr>
          <a:xfrm>
            <a:off x="12096750" y="2037457"/>
            <a:ext cx="5334000" cy="5588198"/>
          </a:xfrm>
          <a:prstGeom prst="roundRect">
            <a:avLst>
              <a:gd name="adj" fmla="val 3929"/>
            </a:avLst>
          </a:prstGeom>
          <a:solidFill>
            <a:srgbClr val="FFFFFF"/>
          </a:solidFill>
          <a:ln/>
          <a:effectLst>
            <a:outerShdw sx="100000" sy="100000" kx="0" ky="0" algn="bl" rotWithShape="0" blurRad="666750" dist="285750" dir="5400000">
              <a:srgbClr val="000000">
                <a:alpha val="45000"/>
              </a:srgbClr>
            </a:outerShdw>
          </a:effectLst>
        </p:spPr>
      </p:sp>
      <p:sp>
        <p:nvSpPr>
          <p:cNvPr id="16" name="Shape 12"/>
          <p:cNvSpPr/>
          <p:nvPr/>
        </p:nvSpPr>
        <p:spPr>
          <a:xfrm>
            <a:off x="12096750" y="2651820"/>
            <a:ext cx="5334000" cy="9525"/>
          </a:xfrm>
          <a:prstGeom prst="rect">
            <a:avLst/>
          </a:prstGeom>
          <a:solidFill>
            <a:srgbClr val="EDEFF4"/>
          </a:solidFill>
          <a:ln/>
        </p:spPr>
      </p:sp>
      <p:sp>
        <p:nvSpPr>
          <p:cNvPr id="17" name="Text 13"/>
          <p:cNvSpPr/>
          <p:nvPr/>
        </p:nvSpPr>
        <p:spPr>
          <a:xfrm>
            <a:off x="12325350" y="2227957"/>
            <a:ext cx="5036820" cy="271463"/>
          </a:xfrm>
          <a:prstGeom prst="rect">
            <a:avLst/>
          </a:prstGeom>
          <a:noFill/>
          <a:ln/>
        </p:spPr>
        <p:txBody>
          <a:bodyPr wrap="square" lIns="25400" tIns="25400" rIns="25400" bIns="25400" rtlCol="0" anchor="t">
            <a:normAutofit/>
          </a:bodyPr>
          <a:lstStyle/>
          <a:p>
            <a:pPr algn="l" indent="0" marL="0">
              <a:buNone/>
            </a:pPr>
            <a:r>
              <a:rPr lang="en-US" sz="1500" b="1" dirty="0">
                <a:solidFill>
                  <a:srgbClr val="1E2D4D"/>
                </a:solidFill>
                <a:latin typeface="Inter" pitchFamily="34" charset="0"/>
                <a:ea typeface="Inter" pitchFamily="34" charset="-122"/>
                <a:cs typeface="Inter" pitchFamily="34" charset="-120"/>
              </a:rPr>
              <a:t>Ask Scout</a:t>
            </a:r>
            <a:endParaRPr lang="en-US" sz="1500" dirty="0"/>
          </a:p>
        </p:txBody>
      </p:sp>
      <p:sp>
        <p:nvSpPr>
          <p:cNvPr id="18" name="Shape 14"/>
          <p:cNvSpPr/>
          <p:nvPr/>
        </p:nvSpPr>
        <p:spPr>
          <a:xfrm>
            <a:off x="14489757" y="2851845"/>
            <a:ext cx="2712393" cy="434280"/>
          </a:xfrm>
          <a:prstGeom prst="roundRect">
            <a:avLst>
              <a:gd name="adj" fmla="val 35093"/>
            </a:avLst>
          </a:prstGeom>
          <a:solidFill>
            <a:srgbClr val="4A60A8"/>
          </a:solidFill>
          <a:ln/>
        </p:spPr>
      </p:sp>
      <p:sp>
        <p:nvSpPr>
          <p:cNvPr id="19" name="Text 15"/>
          <p:cNvSpPr/>
          <p:nvPr/>
        </p:nvSpPr>
        <p:spPr>
          <a:xfrm>
            <a:off x="14642157" y="2966145"/>
            <a:ext cx="2488964" cy="243780"/>
          </a:xfrm>
          <a:prstGeom prst="rect">
            <a:avLst/>
          </a:prstGeom>
          <a:noFill/>
          <a:ln/>
        </p:spPr>
        <p:txBody>
          <a:bodyPr wrap="square" lIns="25400" tIns="25400" rIns="25400" bIns="25400" rtlCol="0" anchor="t">
            <a:normAutofit/>
          </a:bodyPr>
          <a:lstStyle/>
          <a:p>
            <a:pPr algn="l" indent="0" marL="0">
              <a:lnSpc>
                <a:spcPct val="110769"/>
              </a:lnSpc>
              <a:buNone/>
            </a:pPr>
            <a:r>
              <a:rPr lang="en-US" sz="1200" dirty="0">
                <a:solidFill>
                  <a:srgbClr val="FFFFFF"/>
                </a:solidFill>
                <a:latin typeface="Inter" pitchFamily="34" charset="0"/>
                <a:ea typeface="Inter" pitchFamily="34" charset="-122"/>
                <a:cs typeface="Inter" pitchFamily="34" charset="-120"/>
              </a:rPr>
              <a:t>Hey, go ahead and apply to all 15.</a:t>
            </a:r>
            <a:endParaRPr lang="en-US" sz="1200" dirty="0"/>
          </a:p>
        </p:txBody>
      </p:sp>
      <p:sp>
        <p:nvSpPr>
          <p:cNvPr id="20" name="Shape 16"/>
          <p:cNvSpPr/>
          <p:nvPr/>
        </p:nvSpPr>
        <p:spPr>
          <a:xfrm>
            <a:off x="12325350" y="3419475"/>
            <a:ext cx="285750" cy="285750"/>
          </a:xfrm>
          <a:prstGeom prst="ellipse">
            <a:avLst/>
          </a:prstGeom>
          <a:solidFill>
            <a:srgbClr val="E4E9F5"/>
          </a:solidFill>
          <a:ln/>
        </p:spPr>
      </p:sp>
      <p:pic>
        <p:nvPicPr>
          <p:cNvPr id="21" name="Image 2" descr="preencoded.png">    </p:cNvPr>
          <p:cNvPicPr>
            <a:picLocks noChangeAspect="1"/>
          </p:cNvPicPr>
          <p:nvPr/>
        </p:nvPicPr>
        <p:blipFill>
          <a:blip r:embed="rId3"/>
          <a:stretch>
            <a:fillRect/>
          </a:stretch>
        </p:blipFill>
        <p:spPr>
          <a:xfrm>
            <a:off x="12404973" y="3486150"/>
            <a:ext cx="126504" cy="152400"/>
          </a:xfrm>
          <a:prstGeom prst="rect">
            <a:avLst/>
          </a:prstGeom>
        </p:spPr>
      </p:pic>
      <p:sp>
        <p:nvSpPr>
          <p:cNvPr id="22" name="Shape 17"/>
          <p:cNvSpPr/>
          <p:nvPr/>
        </p:nvSpPr>
        <p:spPr>
          <a:xfrm>
            <a:off x="12706350" y="3419475"/>
            <a:ext cx="3253234" cy="434280"/>
          </a:xfrm>
          <a:prstGeom prst="roundRect">
            <a:avLst>
              <a:gd name="adj" fmla="val 35093"/>
            </a:avLst>
          </a:prstGeom>
          <a:solidFill>
            <a:srgbClr val="F1F3F8"/>
          </a:solidFill>
          <a:ln/>
        </p:spPr>
      </p:sp>
      <p:sp>
        <p:nvSpPr>
          <p:cNvPr id="23" name="Text 18"/>
          <p:cNvSpPr/>
          <p:nvPr/>
        </p:nvSpPr>
        <p:spPr>
          <a:xfrm>
            <a:off x="12858750" y="3533775"/>
            <a:ext cx="3046031" cy="243780"/>
          </a:xfrm>
          <a:prstGeom prst="rect">
            <a:avLst/>
          </a:prstGeom>
          <a:noFill/>
          <a:ln/>
        </p:spPr>
        <p:txBody>
          <a:bodyPr wrap="square" lIns="25400" tIns="25400" rIns="25400" bIns="25400" rtlCol="0" anchor="t">
            <a:normAutofit/>
          </a:bodyPr>
          <a:lstStyle/>
          <a:p>
            <a:pPr algn="l" indent="0" marL="0">
              <a:lnSpc>
                <a:spcPct val="110769"/>
              </a:lnSpc>
              <a:buNone/>
            </a:pPr>
            <a:r>
              <a:rPr lang="en-US" sz="1200" dirty="0">
                <a:solidFill>
                  <a:srgbClr val="334155"/>
                </a:solidFill>
                <a:latin typeface="Inter" pitchFamily="34" charset="0"/>
                <a:ea typeface="Inter" pitchFamily="34" charset="-122"/>
                <a:cs typeface="Inter" pitchFamily="34" charset="-120"/>
              </a:rPr>
              <a:t>On it, applying to 15 matched roles now...</a:t>
            </a:r>
            <a:endParaRPr lang="en-US" sz="1200" dirty="0"/>
          </a:p>
        </p:txBody>
      </p:sp>
      <p:sp>
        <p:nvSpPr>
          <p:cNvPr id="24" name="Shape 19"/>
          <p:cNvSpPr/>
          <p:nvPr/>
        </p:nvSpPr>
        <p:spPr>
          <a:xfrm>
            <a:off x="12325350" y="3987105"/>
            <a:ext cx="4876800" cy="666750"/>
          </a:xfrm>
          <a:prstGeom prst="roundRect">
            <a:avLst>
              <a:gd name="adj" fmla="val 20000"/>
            </a:avLst>
          </a:prstGeom>
          <a:solidFill>
            <a:srgbClr val="FFFFFF"/>
          </a:solidFill>
          <a:ln w="9525">
            <a:solidFill>
              <a:srgbClr val="E9EBF1"/>
            </a:solidFill>
            <a:prstDash val="solid"/>
          </a:ln>
        </p:spPr>
      </p:sp>
      <p:sp>
        <p:nvSpPr>
          <p:cNvPr id="25" name="Shape 20"/>
          <p:cNvSpPr/>
          <p:nvPr/>
        </p:nvSpPr>
        <p:spPr>
          <a:xfrm>
            <a:off x="12487275" y="4129980"/>
            <a:ext cx="381000" cy="381000"/>
          </a:xfrm>
          <a:prstGeom prst="ellipse">
            <a:avLst/>
          </a:prstGeom>
          <a:solidFill>
            <a:srgbClr val="1E2D4D"/>
          </a:solidFill>
          <a:ln/>
        </p:spPr>
      </p:sp>
      <p:sp>
        <p:nvSpPr>
          <p:cNvPr id="26" name="Text 21"/>
          <p:cNvSpPr/>
          <p:nvPr/>
        </p:nvSpPr>
        <p:spPr>
          <a:xfrm>
            <a:off x="12449175" y="4129980"/>
            <a:ext cx="457200" cy="4191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nter" pitchFamily="34" charset="0"/>
                <a:ea typeface="Inter" pitchFamily="34" charset="-122"/>
                <a:cs typeface="Inter" pitchFamily="34" charset="-120"/>
              </a:rPr>
              <a:t>MW</a:t>
            </a:r>
            <a:endParaRPr lang="en-US" sz="1050" dirty="0"/>
          </a:p>
        </p:txBody>
      </p:sp>
      <p:sp>
        <p:nvSpPr>
          <p:cNvPr id="27" name="Text 22"/>
          <p:cNvSpPr/>
          <p:nvPr/>
        </p:nvSpPr>
        <p:spPr>
          <a:xfrm>
            <a:off x="13001625" y="4142333"/>
            <a:ext cx="3279294" cy="232395"/>
          </a:xfrm>
          <a:prstGeom prst="rect">
            <a:avLst/>
          </a:prstGeom>
          <a:noFill/>
          <a:ln/>
        </p:spPr>
        <p:txBody>
          <a:bodyPr wrap="square" lIns="25400" tIns="25400" rIns="25400" bIns="25400" rtlCol="0" anchor="t">
            <a:normAutofit/>
          </a:bodyPr>
          <a:lstStyle/>
          <a:p>
            <a:pPr algn="l" indent="0" marL="0">
              <a:lnSpc>
                <a:spcPct val="99512"/>
              </a:lnSpc>
              <a:buNone/>
            </a:pPr>
            <a:r>
              <a:rPr lang="en-US" sz="1275" b="1" dirty="0">
                <a:solidFill>
                  <a:srgbClr val="1E2D4D"/>
                </a:solidFill>
                <a:latin typeface="Inter" pitchFamily="34" charset="0"/>
                <a:ea typeface="Inter" pitchFamily="34" charset="-122"/>
                <a:cs typeface="Inter" pitchFamily="34" charset="-120"/>
              </a:rPr>
              <a:t>Technology Intern</a:t>
            </a:r>
            <a:endParaRPr lang="en-US" sz="1275" dirty="0"/>
          </a:p>
        </p:txBody>
      </p:sp>
      <p:sp>
        <p:nvSpPr>
          <p:cNvPr id="28" name="Text 23"/>
          <p:cNvSpPr/>
          <p:nvPr/>
        </p:nvSpPr>
        <p:spPr>
          <a:xfrm>
            <a:off x="13001625" y="4336628"/>
            <a:ext cx="3279294" cy="200025"/>
          </a:xfrm>
          <a:prstGeom prst="rect">
            <a:avLst/>
          </a:prstGeom>
          <a:noFill/>
          <a:ln/>
        </p:spPr>
        <p:txBody>
          <a:bodyPr wrap="square" lIns="25400" tIns="25400" rIns="25400" bIns="25400" rtlCol="0" anchor="t">
            <a:normAutofit/>
          </a:bodyPr>
          <a:lstStyle/>
          <a:p>
            <a:pPr algn="l" indent="0" marL="0">
              <a:buNone/>
            </a:pPr>
            <a:r>
              <a:rPr lang="en-US" sz="1050" dirty="0">
                <a:solidFill>
                  <a:srgbClr val="64748B"/>
                </a:solidFill>
                <a:latin typeface="Inter" pitchFamily="34" charset="0"/>
                <a:ea typeface="Inter" pitchFamily="34" charset="-122"/>
                <a:cs typeface="Inter" pitchFamily="34" charset="-120"/>
              </a:rPr>
              <a:t>Marshall Wace</a:t>
            </a:r>
            <a:endParaRPr lang="en-US" sz="1050" dirty="0"/>
          </a:p>
        </p:txBody>
      </p:sp>
      <p:sp>
        <p:nvSpPr>
          <p:cNvPr id="29" name="Shape 24"/>
          <p:cNvSpPr/>
          <p:nvPr/>
        </p:nvSpPr>
        <p:spPr>
          <a:xfrm>
            <a:off x="16116151" y="4182368"/>
            <a:ext cx="924074" cy="276225"/>
          </a:xfrm>
          <a:prstGeom prst="roundRect">
            <a:avLst>
              <a:gd name="adj" fmla="val 50000"/>
            </a:avLst>
          </a:prstGeom>
          <a:solidFill>
            <a:srgbClr val="E8F5E9"/>
          </a:solidFill>
          <a:ln/>
        </p:spPr>
      </p:sp>
      <p:pic>
        <p:nvPicPr>
          <p:cNvPr id="30" name="Image 3"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230451" y="4249043"/>
            <a:ext cx="142875" cy="142875"/>
          </a:xfrm>
          <a:prstGeom prst="rect">
            <a:avLst/>
          </a:prstGeom>
        </p:spPr>
      </p:pic>
      <p:sp>
        <p:nvSpPr>
          <p:cNvPr id="31" name="Text 25"/>
          <p:cNvSpPr/>
          <p:nvPr/>
        </p:nvSpPr>
        <p:spPr>
          <a:xfrm>
            <a:off x="16430476" y="4239518"/>
            <a:ext cx="571649" cy="200025"/>
          </a:xfrm>
          <a:prstGeom prst="rect">
            <a:avLst/>
          </a:prstGeom>
          <a:noFill/>
          <a:ln/>
        </p:spPr>
        <p:txBody>
          <a:bodyPr wrap="square" lIns="0" tIns="0" rIns="0" bIns="0" rtlCol="0" anchor="t">
            <a:normAutofit/>
          </a:bodyPr>
          <a:lstStyle/>
          <a:p>
            <a:pPr algn="l" indent="0" marL="0">
              <a:buNone/>
            </a:pPr>
            <a:r>
              <a:rPr lang="en-US" sz="1050" b="1" dirty="0">
                <a:solidFill>
                  <a:srgbClr val="2E7D32"/>
                </a:solidFill>
                <a:latin typeface="Inter" pitchFamily="34" charset="0"/>
                <a:ea typeface="Inter" pitchFamily="34" charset="-122"/>
                <a:cs typeface="Inter" pitchFamily="34" charset="-120"/>
              </a:rPr>
              <a:t>Applied</a:t>
            </a:r>
            <a:endParaRPr lang="en-US" sz="1050" dirty="0"/>
          </a:p>
        </p:txBody>
      </p:sp>
      <p:sp>
        <p:nvSpPr>
          <p:cNvPr id="32" name="Shape 26"/>
          <p:cNvSpPr/>
          <p:nvPr/>
        </p:nvSpPr>
        <p:spPr>
          <a:xfrm>
            <a:off x="12325350" y="4787205"/>
            <a:ext cx="4876800" cy="666750"/>
          </a:xfrm>
          <a:prstGeom prst="roundRect">
            <a:avLst>
              <a:gd name="adj" fmla="val 20000"/>
            </a:avLst>
          </a:prstGeom>
          <a:solidFill>
            <a:srgbClr val="FFFFFF"/>
          </a:solidFill>
          <a:ln w="9525">
            <a:solidFill>
              <a:srgbClr val="E9EBF1"/>
            </a:solidFill>
            <a:prstDash val="solid"/>
          </a:ln>
        </p:spPr>
      </p:sp>
      <p:sp>
        <p:nvSpPr>
          <p:cNvPr id="33" name="Shape 27"/>
          <p:cNvSpPr/>
          <p:nvPr/>
        </p:nvSpPr>
        <p:spPr>
          <a:xfrm>
            <a:off x="12487275" y="4930080"/>
            <a:ext cx="381000" cy="381000"/>
          </a:xfrm>
          <a:prstGeom prst="ellipse">
            <a:avLst/>
          </a:prstGeom>
          <a:solidFill>
            <a:srgbClr val="0F172A"/>
          </a:solidFill>
          <a:ln/>
        </p:spPr>
      </p:sp>
      <p:sp>
        <p:nvSpPr>
          <p:cNvPr id="34" name="Text 28"/>
          <p:cNvSpPr/>
          <p:nvPr/>
        </p:nvSpPr>
        <p:spPr>
          <a:xfrm>
            <a:off x="12449175" y="4930080"/>
            <a:ext cx="457200" cy="4191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nter" pitchFamily="34" charset="0"/>
                <a:ea typeface="Inter" pitchFamily="34" charset="-122"/>
                <a:cs typeface="Inter" pitchFamily="34" charset="-120"/>
              </a:rPr>
              <a:t>1X</a:t>
            </a:r>
            <a:endParaRPr lang="en-US" sz="1050" dirty="0"/>
          </a:p>
        </p:txBody>
      </p:sp>
      <p:sp>
        <p:nvSpPr>
          <p:cNvPr id="35" name="Text 29"/>
          <p:cNvSpPr/>
          <p:nvPr/>
        </p:nvSpPr>
        <p:spPr>
          <a:xfrm>
            <a:off x="13001625" y="4942433"/>
            <a:ext cx="3279294" cy="232395"/>
          </a:xfrm>
          <a:prstGeom prst="rect">
            <a:avLst/>
          </a:prstGeom>
          <a:noFill/>
          <a:ln/>
        </p:spPr>
        <p:txBody>
          <a:bodyPr wrap="square" lIns="25400" tIns="25400" rIns="25400" bIns="25400" rtlCol="0" anchor="t">
            <a:normAutofit/>
          </a:bodyPr>
          <a:lstStyle/>
          <a:p>
            <a:pPr algn="l" indent="0" marL="0">
              <a:lnSpc>
                <a:spcPct val="99512"/>
              </a:lnSpc>
              <a:buNone/>
            </a:pPr>
            <a:r>
              <a:rPr lang="en-US" sz="1275" b="1" dirty="0">
                <a:solidFill>
                  <a:srgbClr val="1E2D4D"/>
                </a:solidFill>
                <a:latin typeface="Inter" pitchFamily="34" charset="0"/>
                <a:ea typeface="Inter" pitchFamily="34" charset="-122"/>
                <a:cs typeface="Inter" pitchFamily="34" charset="-120"/>
              </a:rPr>
              <a:t>AI Residency Intern</a:t>
            </a:r>
            <a:endParaRPr lang="en-US" sz="1275" dirty="0"/>
          </a:p>
        </p:txBody>
      </p:sp>
      <p:sp>
        <p:nvSpPr>
          <p:cNvPr id="36" name="Text 30"/>
          <p:cNvSpPr/>
          <p:nvPr/>
        </p:nvSpPr>
        <p:spPr>
          <a:xfrm>
            <a:off x="13001625" y="5136728"/>
            <a:ext cx="3279294" cy="200025"/>
          </a:xfrm>
          <a:prstGeom prst="rect">
            <a:avLst/>
          </a:prstGeom>
          <a:noFill/>
          <a:ln/>
        </p:spPr>
        <p:txBody>
          <a:bodyPr wrap="square" lIns="25400" tIns="25400" rIns="25400" bIns="25400" rtlCol="0" anchor="t">
            <a:normAutofit/>
          </a:bodyPr>
          <a:lstStyle/>
          <a:p>
            <a:pPr algn="l" indent="0" marL="0">
              <a:buNone/>
            </a:pPr>
            <a:r>
              <a:rPr lang="en-US" sz="1050" dirty="0">
                <a:solidFill>
                  <a:srgbClr val="64748B"/>
                </a:solidFill>
                <a:latin typeface="Inter" pitchFamily="34" charset="0"/>
                <a:ea typeface="Inter" pitchFamily="34" charset="-122"/>
                <a:cs typeface="Inter" pitchFamily="34" charset="-120"/>
              </a:rPr>
              <a:t>1X</a:t>
            </a:r>
            <a:endParaRPr lang="en-US" sz="1050" dirty="0"/>
          </a:p>
        </p:txBody>
      </p:sp>
      <p:sp>
        <p:nvSpPr>
          <p:cNvPr id="37" name="Shape 31"/>
          <p:cNvSpPr/>
          <p:nvPr/>
        </p:nvSpPr>
        <p:spPr>
          <a:xfrm>
            <a:off x="16116151" y="4982468"/>
            <a:ext cx="924074" cy="276225"/>
          </a:xfrm>
          <a:prstGeom prst="roundRect">
            <a:avLst>
              <a:gd name="adj" fmla="val 50000"/>
            </a:avLst>
          </a:prstGeom>
          <a:solidFill>
            <a:srgbClr val="E8F5E9"/>
          </a:solidFill>
          <a:ln/>
        </p:spPr>
      </p:sp>
      <p:pic>
        <p:nvPicPr>
          <p:cNvPr id="38" name="Image 4"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230451" y="5049143"/>
            <a:ext cx="142875" cy="142875"/>
          </a:xfrm>
          <a:prstGeom prst="rect">
            <a:avLst/>
          </a:prstGeom>
        </p:spPr>
      </p:pic>
      <p:sp>
        <p:nvSpPr>
          <p:cNvPr id="39" name="Text 32"/>
          <p:cNvSpPr/>
          <p:nvPr/>
        </p:nvSpPr>
        <p:spPr>
          <a:xfrm>
            <a:off x="16430476" y="5039618"/>
            <a:ext cx="571649" cy="200025"/>
          </a:xfrm>
          <a:prstGeom prst="rect">
            <a:avLst/>
          </a:prstGeom>
          <a:noFill/>
          <a:ln/>
        </p:spPr>
        <p:txBody>
          <a:bodyPr wrap="square" lIns="0" tIns="0" rIns="0" bIns="0" rtlCol="0" anchor="t">
            <a:normAutofit/>
          </a:bodyPr>
          <a:lstStyle/>
          <a:p>
            <a:pPr algn="l" indent="0" marL="0">
              <a:buNone/>
            </a:pPr>
            <a:r>
              <a:rPr lang="en-US" sz="1050" b="1" dirty="0">
                <a:solidFill>
                  <a:srgbClr val="2E7D32"/>
                </a:solidFill>
                <a:latin typeface="Inter" pitchFamily="34" charset="0"/>
                <a:ea typeface="Inter" pitchFamily="34" charset="-122"/>
                <a:cs typeface="Inter" pitchFamily="34" charset="-120"/>
              </a:rPr>
              <a:t>Applied</a:t>
            </a:r>
            <a:endParaRPr lang="en-US" sz="1050" dirty="0"/>
          </a:p>
        </p:txBody>
      </p:sp>
      <p:sp>
        <p:nvSpPr>
          <p:cNvPr id="40" name="Shape 33"/>
          <p:cNvSpPr/>
          <p:nvPr/>
        </p:nvSpPr>
        <p:spPr>
          <a:xfrm>
            <a:off x="12325350" y="5587305"/>
            <a:ext cx="4876800" cy="666750"/>
          </a:xfrm>
          <a:prstGeom prst="roundRect">
            <a:avLst>
              <a:gd name="adj" fmla="val 20000"/>
            </a:avLst>
          </a:prstGeom>
          <a:solidFill>
            <a:srgbClr val="FFFFFF"/>
          </a:solidFill>
          <a:ln w="9525">
            <a:solidFill>
              <a:srgbClr val="E9EBF1"/>
            </a:solidFill>
            <a:prstDash val="solid"/>
          </a:ln>
        </p:spPr>
      </p:sp>
      <p:sp>
        <p:nvSpPr>
          <p:cNvPr id="41" name="Shape 34"/>
          <p:cNvSpPr/>
          <p:nvPr/>
        </p:nvSpPr>
        <p:spPr>
          <a:xfrm>
            <a:off x="12487275" y="5730180"/>
            <a:ext cx="381000" cy="381000"/>
          </a:xfrm>
          <a:prstGeom prst="ellipse">
            <a:avLst/>
          </a:prstGeom>
          <a:solidFill>
            <a:srgbClr val="4A60A8"/>
          </a:solidFill>
          <a:ln/>
        </p:spPr>
      </p:sp>
      <p:sp>
        <p:nvSpPr>
          <p:cNvPr id="42" name="Text 35"/>
          <p:cNvSpPr/>
          <p:nvPr/>
        </p:nvSpPr>
        <p:spPr>
          <a:xfrm>
            <a:off x="12449175" y="5730180"/>
            <a:ext cx="457200" cy="4191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nter" pitchFamily="34" charset="0"/>
                <a:ea typeface="Inter" pitchFamily="34" charset="-122"/>
                <a:cs typeface="Inter" pitchFamily="34" charset="-120"/>
              </a:rPr>
              <a:t>Ai</a:t>
            </a:r>
            <a:endParaRPr lang="en-US" sz="1050" dirty="0"/>
          </a:p>
        </p:txBody>
      </p:sp>
      <p:sp>
        <p:nvSpPr>
          <p:cNvPr id="43" name="Text 36"/>
          <p:cNvSpPr/>
          <p:nvPr/>
        </p:nvSpPr>
        <p:spPr>
          <a:xfrm>
            <a:off x="13001625" y="5742533"/>
            <a:ext cx="3279294" cy="232395"/>
          </a:xfrm>
          <a:prstGeom prst="rect">
            <a:avLst/>
          </a:prstGeom>
          <a:noFill/>
          <a:ln/>
        </p:spPr>
        <p:txBody>
          <a:bodyPr wrap="square" lIns="25400" tIns="25400" rIns="25400" bIns="25400" rtlCol="0" anchor="t">
            <a:normAutofit/>
          </a:bodyPr>
          <a:lstStyle/>
          <a:p>
            <a:pPr algn="l" indent="0" marL="0">
              <a:lnSpc>
                <a:spcPct val="99512"/>
              </a:lnSpc>
              <a:buNone/>
            </a:pPr>
            <a:r>
              <a:rPr lang="en-US" sz="1275" b="1" dirty="0">
                <a:solidFill>
                  <a:srgbClr val="1E2D4D"/>
                </a:solidFill>
                <a:latin typeface="Inter" pitchFamily="34" charset="0"/>
                <a:ea typeface="Inter" pitchFamily="34" charset="-122"/>
                <a:cs typeface="Inter" pitchFamily="34" charset="-120"/>
              </a:rPr>
              <a:t>Growth Account Executive</a:t>
            </a:r>
            <a:endParaRPr lang="en-US" sz="1275" dirty="0"/>
          </a:p>
        </p:txBody>
      </p:sp>
      <p:sp>
        <p:nvSpPr>
          <p:cNvPr id="44" name="Text 37"/>
          <p:cNvSpPr/>
          <p:nvPr/>
        </p:nvSpPr>
        <p:spPr>
          <a:xfrm>
            <a:off x="13001625" y="5936828"/>
            <a:ext cx="3279294" cy="200025"/>
          </a:xfrm>
          <a:prstGeom prst="rect">
            <a:avLst/>
          </a:prstGeom>
          <a:noFill/>
          <a:ln/>
        </p:spPr>
        <p:txBody>
          <a:bodyPr wrap="square" lIns="25400" tIns="25400" rIns="25400" bIns="25400" rtlCol="0" anchor="t">
            <a:normAutofit/>
          </a:bodyPr>
          <a:lstStyle/>
          <a:p>
            <a:pPr algn="l" indent="0" marL="0">
              <a:buNone/>
            </a:pPr>
            <a:r>
              <a:rPr lang="en-US" sz="1050" dirty="0">
                <a:solidFill>
                  <a:srgbClr val="64748B"/>
                </a:solidFill>
                <a:latin typeface="Inter" pitchFamily="34" charset="0"/>
                <a:ea typeface="Inter" pitchFamily="34" charset="-122"/>
                <a:cs typeface="Inter" pitchFamily="34" charset="-120"/>
              </a:rPr>
              <a:t>Airbyte</a:t>
            </a:r>
            <a:endParaRPr lang="en-US" sz="1050" dirty="0"/>
          </a:p>
        </p:txBody>
      </p:sp>
      <p:sp>
        <p:nvSpPr>
          <p:cNvPr id="45" name="Shape 38"/>
          <p:cNvSpPr/>
          <p:nvPr/>
        </p:nvSpPr>
        <p:spPr>
          <a:xfrm>
            <a:off x="16116151" y="5782568"/>
            <a:ext cx="924074" cy="276225"/>
          </a:xfrm>
          <a:prstGeom prst="roundRect">
            <a:avLst>
              <a:gd name="adj" fmla="val 50000"/>
            </a:avLst>
          </a:prstGeom>
          <a:solidFill>
            <a:srgbClr val="E8F5E9"/>
          </a:solidFill>
          <a:ln/>
        </p:spPr>
      </p:sp>
      <p:pic>
        <p:nvPicPr>
          <p:cNvPr id="46"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230451" y="5849243"/>
            <a:ext cx="142875" cy="142875"/>
          </a:xfrm>
          <a:prstGeom prst="rect">
            <a:avLst/>
          </a:prstGeom>
        </p:spPr>
      </p:pic>
      <p:sp>
        <p:nvSpPr>
          <p:cNvPr id="47" name="Text 39"/>
          <p:cNvSpPr/>
          <p:nvPr/>
        </p:nvSpPr>
        <p:spPr>
          <a:xfrm>
            <a:off x="16430476" y="5839718"/>
            <a:ext cx="571649" cy="200025"/>
          </a:xfrm>
          <a:prstGeom prst="rect">
            <a:avLst/>
          </a:prstGeom>
          <a:noFill/>
          <a:ln/>
        </p:spPr>
        <p:txBody>
          <a:bodyPr wrap="square" lIns="0" tIns="0" rIns="0" bIns="0" rtlCol="0" anchor="t">
            <a:normAutofit/>
          </a:bodyPr>
          <a:lstStyle/>
          <a:p>
            <a:pPr algn="l" indent="0" marL="0">
              <a:buNone/>
            </a:pPr>
            <a:r>
              <a:rPr lang="en-US" sz="1050" b="1" dirty="0">
                <a:solidFill>
                  <a:srgbClr val="2E7D32"/>
                </a:solidFill>
                <a:latin typeface="Inter" pitchFamily="34" charset="0"/>
                <a:ea typeface="Inter" pitchFamily="34" charset="-122"/>
                <a:cs typeface="Inter" pitchFamily="34" charset="-120"/>
              </a:rPr>
              <a:t>Applied</a:t>
            </a:r>
            <a:endParaRPr lang="en-US" sz="1050" dirty="0"/>
          </a:p>
        </p:txBody>
      </p:sp>
      <p:sp>
        <p:nvSpPr>
          <p:cNvPr id="48" name="Text 40"/>
          <p:cNvSpPr/>
          <p:nvPr/>
        </p:nvSpPr>
        <p:spPr>
          <a:xfrm>
            <a:off x="12363450" y="6387405"/>
            <a:ext cx="5326380" cy="209550"/>
          </a:xfrm>
          <a:prstGeom prst="rect">
            <a:avLst/>
          </a:prstGeom>
          <a:noFill/>
          <a:ln/>
        </p:spPr>
        <p:txBody>
          <a:bodyPr wrap="square" lIns="25400" tIns="25400" rIns="25400" bIns="25400" rtlCol="0" anchor="t">
            <a:normAutofit/>
          </a:bodyPr>
          <a:lstStyle/>
          <a:p>
            <a:pPr algn="l" indent="0" marL="0">
              <a:buNone/>
            </a:pPr>
            <a:r>
              <a:rPr lang="en-US" sz="1125" dirty="0">
                <a:solidFill>
                  <a:srgbClr val="94A3B8"/>
                </a:solidFill>
                <a:latin typeface="Inter" pitchFamily="34" charset="0"/>
                <a:ea typeface="Inter" pitchFamily="34" charset="-122"/>
                <a:cs typeface="Inter" pitchFamily="34" charset="-120"/>
              </a:rPr>
              <a:t>+ 12 more in queue...</a:t>
            </a:r>
            <a:endParaRPr lang="en-US" sz="1125" dirty="0"/>
          </a:p>
        </p:txBody>
      </p:sp>
      <p:sp>
        <p:nvSpPr>
          <p:cNvPr id="49" name="Shape 41"/>
          <p:cNvSpPr/>
          <p:nvPr/>
        </p:nvSpPr>
        <p:spPr>
          <a:xfrm>
            <a:off x="12287250" y="6882705"/>
            <a:ext cx="4953000" cy="571500"/>
          </a:xfrm>
          <a:prstGeom prst="roundRect">
            <a:avLst>
              <a:gd name="adj" fmla="val 20000"/>
            </a:avLst>
          </a:prstGeom>
          <a:solidFill>
            <a:srgbClr val="F5F6F8"/>
          </a:solidFill>
          <a:ln w="9525">
            <a:solidFill>
              <a:srgbClr val="E9EBF1"/>
            </a:solidFill>
            <a:prstDash val="solid"/>
          </a:ln>
        </p:spPr>
      </p:sp>
      <p:sp>
        <p:nvSpPr>
          <p:cNvPr id="50" name="Text 42"/>
          <p:cNvSpPr/>
          <p:nvPr/>
        </p:nvSpPr>
        <p:spPr>
          <a:xfrm>
            <a:off x="12430125" y="7075587"/>
            <a:ext cx="4672965" cy="223838"/>
          </a:xfrm>
          <a:prstGeom prst="rect">
            <a:avLst/>
          </a:prstGeom>
          <a:noFill/>
          <a:ln/>
        </p:spPr>
        <p:txBody>
          <a:bodyPr wrap="square" lIns="25400" tIns="25400" rIns="25400" bIns="25400" rtlCol="0" anchor="t">
            <a:normAutofit/>
          </a:bodyPr>
          <a:lstStyle/>
          <a:p>
            <a:pPr algn="l" indent="0" marL="0">
              <a:buNone/>
            </a:pPr>
            <a:r>
              <a:rPr lang="en-US" sz="1200" dirty="0">
                <a:solidFill>
                  <a:srgbClr val="94A3B8"/>
                </a:solidFill>
                <a:latin typeface="Inter" pitchFamily="34" charset="0"/>
                <a:ea typeface="Inter" pitchFamily="34" charset="-122"/>
                <a:cs typeface="Inter" pitchFamily="34" charset="-120"/>
              </a:rPr>
              <a:t>Ask Scout anything...</a:t>
            </a:r>
            <a:endParaRPr lang="en-US" sz="1200" dirty="0"/>
          </a:p>
        </p:txBody>
      </p:sp>
      <p:sp>
        <p:nvSpPr>
          <p:cNvPr id="51" name="Shape 43"/>
          <p:cNvSpPr/>
          <p:nvPr/>
        </p:nvSpPr>
        <p:spPr>
          <a:xfrm>
            <a:off x="16773525" y="7006530"/>
            <a:ext cx="323850" cy="323850"/>
          </a:xfrm>
          <a:prstGeom prst="roundRect">
            <a:avLst>
              <a:gd name="adj" fmla="val 26471"/>
            </a:avLst>
          </a:prstGeom>
          <a:solidFill>
            <a:srgbClr val="4A60A8"/>
          </a:solidFill>
          <a:ln/>
        </p:spPr>
      </p:sp>
      <p:sp>
        <p:nvSpPr>
          <p:cNvPr id="52" name="Shape 44"/>
          <p:cNvSpPr/>
          <p:nvPr/>
        </p:nvSpPr>
        <p:spPr>
          <a:xfrm>
            <a:off x="16883063" y="7116068"/>
            <a:ext cx="104775" cy="104775"/>
          </a:xfrm>
          <a:prstGeom prst="roundRect">
            <a:avLst>
              <a:gd name="adj" fmla="val 18182"/>
            </a:avLst>
          </a:prstGeom>
          <a:solidFill>
            <a:srgbClr val="FFFFFF"/>
          </a:solidFill>
          <a:ln/>
        </p:spPr>
      </p:sp>
      <p:sp>
        <p:nvSpPr>
          <p:cNvPr id="53" name="Shape 45"/>
          <p:cNvSpPr/>
          <p:nvPr/>
        </p:nvSpPr>
        <p:spPr>
          <a:xfrm>
            <a:off x="0" y="9320213"/>
            <a:ext cx="18288000" cy="966788"/>
          </a:xfrm>
          <a:prstGeom prst="rect">
            <a:avLst/>
          </a:prstGeom>
          <a:solidFill>
            <a:srgbClr val="080C1A">
              <a:alpha val="72000"/>
            </a:srgbClr>
          </a:solidFill>
          <a:ln/>
        </p:spPr>
      </p:sp>
      <p:sp>
        <p:nvSpPr>
          <p:cNvPr id="54" name="Shape 46"/>
          <p:cNvSpPr/>
          <p:nvPr/>
        </p:nvSpPr>
        <p:spPr>
          <a:xfrm>
            <a:off x="0" y="9320213"/>
            <a:ext cx="18288000" cy="9525"/>
          </a:xfrm>
          <a:prstGeom prst="rect">
            <a:avLst/>
          </a:prstGeom>
          <a:solidFill>
            <a:srgbClr val="FFFFFF">
              <a:alpha val="9000"/>
            </a:srgbClr>
          </a:solidFill>
          <a:ln/>
        </p:spPr>
      </p:sp>
      <p:sp>
        <p:nvSpPr>
          <p:cNvPr id="55" name="Text 47"/>
          <p:cNvSpPr/>
          <p:nvPr/>
        </p:nvSpPr>
        <p:spPr>
          <a:xfrm>
            <a:off x="857250" y="9698831"/>
            <a:ext cx="2135937" cy="257175"/>
          </a:xfrm>
          <a:prstGeom prst="rect">
            <a:avLst/>
          </a:prstGeom>
          <a:noFill/>
          <a:ln/>
        </p:spPr>
        <p:txBody>
          <a:bodyPr wrap="square" lIns="25400" tIns="25400" rIns="25400" bIns="25400" rtlCol="0" anchor="t">
            <a:normAutofit/>
          </a:bodyPr>
          <a:lstStyle/>
          <a:p>
            <a:pPr algn="l" indent="0" marL="0">
              <a:buNone/>
            </a:pPr>
            <a:r>
              <a:rPr lang="en-US" sz="1425" b="1" spc="171" kern="0" dirty="0">
                <a:solidFill>
                  <a:srgbClr val="9CB2E8"/>
                </a:solidFill>
                <a:latin typeface="Inter" pitchFamily="34" charset="0"/>
                <a:ea typeface="Inter" pitchFamily="34" charset="-122"/>
                <a:cs typeface="Inter" pitchFamily="34" charset="-120"/>
              </a:rPr>
              <a:t>THE DATA ENGINE</a:t>
            </a:r>
            <a:endParaRPr lang="en-US" sz="1425" dirty="0"/>
          </a:p>
        </p:txBody>
      </p:sp>
      <p:sp>
        <p:nvSpPr>
          <p:cNvPr id="56" name="Text 48"/>
          <p:cNvSpPr/>
          <p:nvPr/>
        </p:nvSpPr>
        <p:spPr>
          <a:xfrm>
            <a:off x="10641657" y="9577388"/>
            <a:ext cx="1678260" cy="500063"/>
          </a:xfrm>
          <a:prstGeom prst="rect">
            <a:avLst/>
          </a:prstGeom>
          <a:noFill/>
          <a:ln/>
        </p:spPr>
        <p:txBody>
          <a:bodyPr wrap="square" lIns="25400" tIns="25400" rIns="25400" bIns="25400" rtlCol="0" anchor="t">
            <a:normAutofit/>
          </a:bodyPr>
          <a:lstStyle/>
          <a:p>
            <a:pPr algn="l" indent="0" marL="0">
              <a:buNone/>
            </a:pPr>
            <a:r>
              <a:rPr lang="en-US" sz="2850" b="1" dirty="0">
                <a:solidFill>
                  <a:srgbClr val="F5F0EB"/>
                </a:solidFill>
                <a:latin typeface="Lora" pitchFamily="34" charset="0"/>
                <a:ea typeface="Lora" pitchFamily="34" charset="-122"/>
                <a:cs typeface="Lora" pitchFamily="34" charset="-120"/>
              </a:rPr>
              <a:t>2.2B </a:t>
            </a:r>
            <a:pPr algn="l" indent="0" marL="0">
              <a:buNone/>
            </a:pPr>
            <a:r>
              <a:rPr lang="en-US" sz="1500" dirty="0">
                <a:solidFill>
                  <a:srgbClr val="C4CEE8">
                    <a:alpha val="70000"/>
                  </a:srgbClr>
                </a:solidFill>
                <a:latin typeface="Inter" pitchFamily="34" charset="0"/>
                <a:ea typeface="Inter" pitchFamily="34" charset="-122"/>
                <a:cs typeface="Inter" pitchFamily="34" charset="-120"/>
              </a:rPr>
              <a:t>contacts</a:t>
            </a:r>
            <a:endParaRPr lang="en-US" sz="1200" dirty="0"/>
          </a:p>
        </p:txBody>
      </p:sp>
      <p:sp>
        <p:nvSpPr>
          <p:cNvPr id="57" name="Shape 49"/>
          <p:cNvSpPr/>
          <p:nvPr/>
        </p:nvSpPr>
        <p:spPr>
          <a:xfrm>
            <a:off x="12662818" y="9627394"/>
            <a:ext cx="9525" cy="361950"/>
          </a:xfrm>
          <a:prstGeom prst="rect">
            <a:avLst/>
          </a:prstGeom>
          <a:solidFill>
            <a:srgbClr val="FFFFFF">
              <a:alpha val="15000"/>
            </a:srgbClr>
          </a:solidFill>
          <a:ln/>
        </p:spPr>
      </p:sp>
      <p:sp>
        <p:nvSpPr>
          <p:cNvPr id="58" name="Text 50"/>
          <p:cNvSpPr/>
          <p:nvPr/>
        </p:nvSpPr>
        <p:spPr>
          <a:xfrm>
            <a:off x="13091443" y="9577388"/>
            <a:ext cx="1797546" cy="500063"/>
          </a:xfrm>
          <a:prstGeom prst="rect">
            <a:avLst/>
          </a:prstGeom>
          <a:noFill/>
          <a:ln/>
        </p:spPr>
        <p:txBody>
          <a:bodyPr wrap="square" lIns="25400" tIns="25400" rIns="25400" bIns="25400" rtlCol="0" anchor="t">
            <a:normAutofit/>
          </a:bodyPr>
          <a:lstStyle/>
          <a:p>
            <a:pPr algn="l" indent="0" marL="0">
              <a:buNone/>
            </a:pPr>
            <a:r>
              <a:rPr lang="en-US" sz="2850" b="1" dirty="0">
                <a:solidFill>
                  <a:srgbClr val="F5F0EB"/>
                </a:solidFill>
                <a:latin typeface="Lora" pitchFamily="34" charset="0"/>
                <a:ea typeface="Lora" pitchFamily="34" charset="-122"/>
                <a:cs typeface="Lora" pitchFamily="34" charset="-120"/>
              </a:rPr>
              <a:t>3M+ </a:t>
            </a:r>
            <a:pPr algn="l" indent="0" marL="0">
              <a:buNone/>
            </a:pPr>
            <a:r>
              <a:rPr lang="en-US" sz="1500" dirty="0">
                <a:solidFill>
                  <a:srgbClr val="C4CEE8">
                    <a:alpha val="70000"/>
                  </a:srgbClr>
                </a:solidFill>
                <a:latin typeface="Inter" pitchFamily="34" charset="0"/>
                <a:ea typeface="Inter" pitchFamily="34" charset="-122"/>
                <a:cs typeface="Inter" pitchFamily="34" charset="-120"/>
              </a:rPr>
              <a:t>recruiters</a:t>
            </a:r>
            <a:endParaRPr lang="en-US" sz="1200" dirty="0"/>
          </a:p>
        </p:txBody>
      </p:sp>
      <p:sp>
        <p:nvSpPr>
          <p:cNvPr id="59" name="Shape 51"/>
          <p:cNvSpPr/>
          <p:nvPr/>
        </p:nvSpPr>
        <p:spPr>
          <a:xfrm>
            <a:off x="15231889" y="9627394"/>
            <a:ext cx="9525" cy="361950"/>
          </a:xfrm>
          <a:prstGeom prst="rect">
            <a:avLst/>
          </a:prstGeom>
          <a:solidFill>
            <a:srgbClr val="FFFFFF">
              <a:alpha val="15000"/>
            </a:srgbClr>
          </a:solidFill>
          <a:ln/>
        </p:spPr>
      </p:sp>
      <p:sp>
        <p:nvSpPr>
          <p:cNvPr id="60" name="Text 52"/>
          <p:cNvSpPr/>
          <p:nvPr/>
        </p:nvSpPr>
        <p:spPr>
          <a:xfrm>
            <a:off x="15660514" y="9577388"/>
            <a:ext cx="1846436" cy="500063"/>
          </a:xfrm>
          <a:prstGeom prst="rect">
            <a:avLst/>
          </a:prstGeom>
          <a:noFill/>
          <a:ln/>
        </p:spPr>
        <p:txBody>
          <a:bodyPr wrap="square" lIns="25400" tIns="25400" rIns="25400" bIns="25400" rtlCol="0" anchor="t">
            <a:normAutofit/>
          </a:bodyPr>
          <a:lstStyle/>
          <a:p>
            <a:pPr algn="l" indent="0" marL="0">
              <a:buNone/>
            </a:pPr>
            <a:r>
              <a:rPr lang="en-US" sz="2850" b="1" dirty="0">
                <a:solidFill>
                  <a:srgbClr val="F5F0EB"/>
                </a:solidFill>
                <a:latin typeface="Lora" pitchFamily="34" charset="0"/>
                <a:ea typeface="Lora" pitchFamily="34" charset="-122"/>
                <a:cs typeface="Lora" pitchFamily="34" charset="-120"/>
              </a:rPr>
              <a:t>300K </a:t>
            </a:r>
            <a:pPr algn="l" indent="0" marL="0">
              <a:buNone/>
            </a:pPr>
            <a:r>
              <a:rPr lang="en-US" sz="1500" dirty="0">
                <a:solidFill>
                  <a:srgbClr val="C4CEE8">
                    <a:alpha val="70000"/>
                  </a:srgbClr>
                </a:solidFill>
                <a:latin typeface="Inter" pitchFamily="34" charset="0"/>
                <a:ea typeface="Inter" pitchFamily="34" charset="-122"/>
                <a:cs typeface="Inter" pitchFamily="34" charset="-120"/>
              </a:rPr>
              <a:t>live jobs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1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222" r="222" t="0" b="0"/>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1047750" y="3386658"/>
            <a:ext cx="8612505" cy="216173"/>
          </a:xfrm>
          <a:prstGeom prst="rect">
            <a:avLst/>
          </a:prstGeom>
          <a:noFill/>
          <a:ln/>
        </p:spPr>
        <p:txBody>
          <a:bodyPr wrap="square" lIns="25400" tIns="25400" rIns="25400" bIns="25400" rtlCol="0" anchor="t">
            <a:normAutofit/>
          </a:bodyPr>
          <a:lstStyle/>
          <a:p>
            <a:pPr algn="l" indent="0" marL="0">
              <a:lnSpc>
                <a:spcPct val="91220"/>
              </a:lnSpc>
              <a:buNone/>
            </a:pPr>
            <a:r>
              <a:rPr lang="en-US" sz="1275" b="1" spc="127" kern="0" dirty="0">
                <a:solidFill>
                  <a:srgbClr val="4A60A8"/>
                </a:solidFill>
                <a:latin typeface="Inter" pitchFamily="34" charset="0"/>
                <a:ea typeface="Inter" pitchFamily="34" charset="-122"/>
                <a:cs typeface="Inter" pitchFamily="34" charset="-120"/>
              </a:rPr>
              <a:t>IN THEIR WORDS</a:t>
            </a:r>
            <a:endParaRPr lang="en-US" sz="1275" dirty="0"/>
          </a:p>
        </p:txBody>
      </p:sp>
      <p:sp>
        <p:nvSpPr>
          <p:cNvPr id="3" name="Text 1"/>
          <p:cNvSpPr/>
          <p:nvPr/>
        </p:nvSpPr>
        <p:spPr>
          <a:xfrm>
            <a:off x="1047750" y="3793331"/>
            <a:ext cx="8064437" cy="1249561"/>
          </a:xfrm>
          <a:prstGeom prst="rect">
            <a:avLst/>
          </a:prstGeom>
          <a:noFill/>
          <a:ln/>
        </p:spPr>
        <p:txBody>
          <a:bodyPr wrap="square" lIns="25400" tIns="25400" rIns="25400" bIns="25400" rtlCol="0" anchor="t">
            <a:normAutofit/>
          </a:bodyPr>
          <a:lstStyle/>
          <a:p>
            <a:pPr algn="l" indent="0" marL="0">
              <a:lnSpc>
                <a:spcPct val="82597"/>
              </a:lnSpc>
              <a:buNone/>
            </a:pPr>
            <a:r>
              <a:rPr lang="en-US" sz="4500" b="1" spc="-90" kern="0" dirty="0">
                <a:solidFill>
                  <a:srgbClr val="1E2D4D"/>
                </a:solidFill>
                <a:latin typeface="Lora" pitchFamily="34" charset="0"/>
                <a:ea typeface="Lora" pitchFamily="34" charset="-122"/>
                <a:cs typeface="Lora" pitchFamily="34" charset="-120"/>
              </a:rPr>
              <a:t>From zero to a FedEx offer in </a:t>
            </a:r>
            <a:pPr algn="l" indent="0" marL="0">
              <a:lnSpc>
                <a:spcPct val="82597"/>
              </a:lnSpc>
              <a:buNone/>
            </a:pPr>
            <a:r>
              <a:rPr lang="en-US" sz="4500" b="1" i="1" spc="-90" kern="0" dirty="0">
                <a:solidFill>
                  <a:srgbClr val="4A60A8"/>
                </a:solidFill>
                <a:latin typeface="Lora" pitchFamily="34" charset="0"/>
                <a:ea typeface="Lora" pitchFamily="34" charset="-122"/>
                <a:cs typeface="Lora" pitchFamily="34" charset="-120"/>
              </a:rPr>
              <a:t>one month.</a:t>
            </a:r>
            <a:endParaRPr lang="en-US" sz="4500" dirty="0"/>
          </a:p>
        </p:txBody>
      </p:sp>
      <p:sp>
        <p:nvSpPr>
          <p:cNvPr id="4" name="Shape 2"/>
          <p:cNvSpPr/>
          <p:nvPr/>
        </p:nvSpPr>
        <p:spPr>
          <a:xfrm>
            <a:off x="1047750" y="5271492"/>
            <a:ext cx="533400" cy="533400"/>
          </a:xfrm>
          <a:prstGeom prst="ellipse">
            <a:avLst/>
          </a:prstGeom>
          <a:solidFill>
            <a:srgbClr val="4A60A8"/>
          </a:solidFill>
          <a:ln/>
        </p:spPr>
      </p:sp>
      <p:sp>
        <p:nvSpPr>
          <p:cNvPr id="5" name="Text 3"/>
          <p:cNvSpPr/>
          <p:nvPr/>
        </p:nvSpPr>
        <p:spPr>
          <a:xfrm>
            <a:off x="1009650" y="5271492"/>
            <a:ext cx="609600" cy="5715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FFFF"/>
                </a:solidFill>
                <a:latin typeface="Lora" pitchFamily="34" charset="0"/>
                <a:ea typeface="Lora" pitchFamily="34" charset="-122"/>
                <a:cs typeface="Lora" pitchFamily="34" charset="-120"/>
              </a:rPr>
              <a:t>DJ</a:t>
            </a:r>
            <a:endParaRPr lang="en-US" sz="1650" dirty="0"/>
          </a:p>
        </p:txBody>
      </p:sp>
      <p:sp>
        <p:nvSpPr>
          <p:cNvPr id="6" name="Text 4"/>
          <p:cNvSpPr/>
          <p:nvPr/>
        </p:nvSpPr>
        <p:spPr>
          <a:xfrm>
            <a:off x="1733550" y="5304830"/>
            <a:ext cx="3251545"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1E2D4D"/>
                </a:solidFill>
                <a:latin typeface="Inter" pitchFamily="34" charset="0"/>
                <a:ea typeface="Inter" pitchFamily="34" charset="-122"/>
                <a:cs typeface="Inter" pitchFamily="34" charset="-120"/>
              </a:rPr>
              <a:t>David Ji</a:t>
            </a:r>
            <a:endParaRPr lang="en-US" sz="1650" dirty="0"/>
          </a:p>
        </p:txBody>
      </p:sp>
      <p:sp>
        <p:nvSpPr>
          <p:cNvPr id="7" name="Text 5"/>
          <p:cNvSpPr/>
          <p:nvPr/>
        </p:nvSpPr>
        <p:spPr>
          <a:xfrm>
            <a:off x="1733550" y="5562005"/>
            <a:ext cx="3251545" cy="247650"/>
          </a:xfrm>
          <a:prstGeom prst="rect">
            <a:avLst/>
          </a:prstGeom>
          <a:noFill/>
          <a:ln/>
        </p:spPr>
        <p:txBody>
          <a:bodyPr wrap="square" lIns="25400" tIns="25400" rIns="25400" bIns="25400" rtlCol="0" anchor="t">
            <a:normAutofit/>
          </a:bodyPr>
          <a:lstStyle/>
          <a:p>
            <a:pPr algn="l" indent="0" marL="0">
              <a:buNone/>
            </a:pPr>
            <a:r>
              <a:rPr lang="en-US" sz="1350" dirty="0">
                <a:solidFill>
                  <a:srgbClr val="64748B"/>
                </a:solidFill>
                <a:latin typeface="Inter" pitchFamily="34" charset="0"/>
                <a:ea typeface="Inter" pitchFamily="34" charset="-122"/>
                <a:cs typeface="Inter" pitchFamily="34" charset="-120"/>
              </a:rPr>
              <a:t>Junior · International Relations · USC</a:t>
            </a:r>
            <a:endParaRPr lang="en-US" sz="1350" dirty="0"/>
          </a:p>
        </p:txBody>
      </p:sp>
      <p:sp>
        <p:nvSpPr>
          <p:cNvPr id="8" name="Text 6"/>
          <p:cNvSpPr/>
          <p:nvPr/>
        </p:nvSpPr>
        <p:spPr>
          <a:xfrm>
            <a:off x="1047750" y="6147792"/>
            <a:ext cx="1995636" cy="495300"/>
          </a:xfrm>
          <a:prstGeom prst="rect">
            <a:avLst/>
          </a:prstGeom>
          <a:noFill/>
          <a:ln/>
        </p:spPr>
        <p:txBody>
          <a:bodyPr wrap="square" lIns="25400" tIns="25400" rIns="25400" bIns="25400" rtlCol="0" anchor="t">
            <a:normAutofit/>
          </a:bodyPr>
          <a:lstStyle/>
          <a:p>
            <a:pPr algn="l" indent="0" marL="0">
              <a:lnSpc>
                <a:spcPct val="78049"/>
              </a:lnSpc>
              <a:buNone/>
            </a:pPr>
            <a:r>
              <a:rPr lang="en-US" sz="3600" b="1" dirty="0">
                <a:solidFill>
                  <a:srgbClr val="4A60A8"/>
                </a:solidFill>
                <a:latin typeface="Lora" pitchFamily="34" charset="0"/>
                <a:ea typeface="Lora" pitchFamily="34" charset="-122"/>
                <a:cs typeface="Lora" pitchFamily="34" charset="-120"/>
              </a:rPr>
              <a:t>1 month</a:t>
            </a:r>
            <a:endParaRPr lang="en-US" sz="3600" dirty="0"/>
          </a:p>
        </p:txBody>
      </p:sp>
      <p:sp>
        <p:nvSpPr>
          <p:cNvPr id="9" name="Text 7"/>
          <p:cNvSpPr/>
          <p:nvPr/>
        </p:nvSpPr>
        <p:spPr>
          <a:xfrm>
            <a:off x="1047750" y="6681192"/>
            <a:ext cx="1995636" cy="257175"/>
          </a:xfrm>
          <a:prstGeom prst="rect">
            <a:avLst/>
          </a:prstGeom>
          <a:noFill/>
          <a:ln/>
        </p:spPr>
        <p:txBody>
          <a:bodyPr wrap="square" lIns="25400" tIns="25400" rIns="25400" bIns="25400" rtlCol="0" anchor="t">
            <a:normAutofit/>
          </a:bodyPr>
          <a:lstStyle/>
          <a:p>
            <a:pPr algn="l" indent="0" marL="0">
              <a:buNone/>
            </a:pPr>
            <a:r>
              <a:rPr lang="en-US" sz="1425" dirty="0">
                <a:solidFill>
                  <a:srgbClr val="64748B"/>
                </a:solidFill>
                <a:latin typeface="Inter" pitchFamily="34" charset="0"/>
                <a:ea typeface="Inter" pitchFamily="34" charset="-122"/>
                <a:cs typeface="Inter" pitchFamily="34" charset="-120"/>
              </a:rPr>
              <a:t>from first use to offer</a:t>
            </a:r>
            <a:endParaRPr lang="en-US" sz="1425" dirty="0"/>
          </a:p>
        </p:txBody>
      </p:sp>
      <p:sp>
        <p:nvSpPr>
          <p:cNvPr id="10" name="Text 8"/>
          <p:cNvSpPr/>
          <p:nvPr/>
        </p:nvSpPr>
        <p:spPr>
          <a:xfrm>
            <a:off x="3242965" y="6147792"/>
            <a:ext cx="2233672" cy="495300"/>
          </a:xfrm>
          <a:prstGeom prst="rect">
            <a:avLst/>
          </a:prstGeom>
          <a:noFill/>
          <a:ln/>
        </p:spPr>
        <p:txBody>
          <a:bodyPr wrap="square" lIns="25400" tIns="25400" rIns="25400" bIns="25400" rtlCol="0" anchor="t">
            <a:normAutofit/>
          </a:bodyPr>
          <a:lstStyle/>
          <a:p>
            <a:pPr algn="l" indent="0" marL="0">
              <a:lnSpc>
                <a:spcPct val="78049"/>
              </a:lnSpc>
              <a:buNone/>
            </a:pPr>
            <a:r>
              <a:rPr lang="en-US" sz="3600" b="1" dirty="0">
                <a:solidFill>
                  <a:srgbClr val="4A60A8"/>
                </a:solidFill>
                <a:latin typeface="Lora" pitchFamily="34" charset="0"/>
                <a:ea typeface="Lora" pitchFamily="34" charset="-122"/>
                <a:cs typeface="Lora" pitchFamily="34" charset="-120"/>
              </a:rPr>
              <a:t>Tons</a:t>
            </a:r>
            <a:endParaRPr lang="en-US" sz="3600" dirty="0"/>
          </a:p>
        </p:txBody>
      </p:sp>
      <p:sp>
        <p:nvSpPr>
          <p:cNvPr id="11" name="Text 9"/>
          <p:cNvSpPr/>
          <p:nvPr/>
        </p:nvSpPr>
        <p:spPr>
          <a:xfrm>
            <a:off x="3242965" y="6681192"/>
            <a:ext cx="2233672" cy="257175"/>
          </a:xfrm>
          <a:prstGeom prst="rect">
            <a:avLst/>
          </a:prstGeom>
          <a:noFill/>
          <a:ln/>
        </p:spPr>
        <p:txBody>
          <a:bodyPr wrap="square" lIns="25400" tIns="25400" rIns="25400" bIns="25400" rtlCol="0" anchor="t">
            <a:normAutofit/>
          </a:bodyPr>
          <a:lstStyle/>
          <a:p>
            <a:pPr algn="l" indent="0" marL="0">
              <a:buNone/>
            </a:pPr>
            <a:r>
              <a:rPr lang="en-US" sz="1425" dirty="0">
                <a:solidFill>
                  <a:srgbClr val="64748B"/>
                </a:solidFill>
                <a:latin typeface="Inter" pitchFamily="34" charset="0"/>
                <a:ea typeface="Inter" pitchFamily="34" charset="-122"/>
                <a:cs typeface="Inter" pitchFamily="34" charset="-120"/>
              </a:rPr>
              <a:t>of coffee chats secured</a:t>
            </a:r>
            <a:endParaRPr lang="en-US" sz="1425" dirty="0"/>
          </a:p>
        </p:txBody>
      </p:sp>
      <p:sp>
        <p:nvSpPr>
          <p:cNvPr id="12" name="Shape 10"/>
          <p:cNvSpPr/>
          <p:nvPr/>
        </p:nvSpPr>
        <p:spPr>
          <a:xfrm>
            <a:off x="9410700" y="3400425"/>
            <a:ext cx="7829550" cy="1647825"/>
          </a:xfrm>
          <a:prstGeom prst="roundRect">
            <a:avLst>
              <a:gd name="adj" fmla="val 9249"/>
            </a:avLst>
          </a:prstGeom>
          <a:solidFill>
            <a:srgbClr val="FFFFFF"/>
          </a:solidFill>
          <a:ln w="9525">
            <a:solidFill>
              <a:srgbClr val="D4CEC7"/>
            </a:solidFill>
            <a:prstDash val="solid"/>
          </a:ln>
          <a:effectLst>
            <a:outerShdw sx="100000" sy="100000" kx="0" ky="0" algn="bl" rotWithShape="0" blurRad="152400" dist="38100" dir="5400000">
              <a:srgbClr val="1A1A1A">
                <a:alpha val="6000"/>
              </a:srgbClr>
            </a:outerShdw>
          </a:effectLst>
        </p:spPr>
      </p:sp>
      <p:sp>
        <p:nvSpPr>
          <p:cNvPr id="13" name="Text 11"/>
          <p:cNvSpPr/>
          <p:nvPr/>
        </p:nvSpPr>
        <p:spPr>
          <a:xfrm>
            <a:off x="9744075" y="3714750"/>
            <a:ext cx="7377684" cy="695325"/>
          </a:xfrm>
          <a:prstGeom prst="rect">
            <a:avLst/>
          </a:prstGeom>
          <a:noFill/>
          <a:ln/>
        </p:spPr>
        <p:txBody>
          <a:bodyPr wrap="square" lIns="25400" tIns="25400" rIns="25400" bIns="25400" rtlCol="0" anchor="t">
            <a:normAutofit/>
          </a:bodyPr>
          <a:lstStyle/>
          <a:p>
            <a:pPr algn="l" indent="0" marL="0">
              <a:lnSpc>
                <a:spcPct val="123214"/>
              </a:lnSpc>
              <a:buNone/>
            </a:pPr>
            <a:r>
              <a:rPr lang="en-US" sz="1725" i="1" dirty="0">
                <a:solidFill>
                  <a:srgbClr val="0A0A0A"/>
                </a:solidFill>
                <a:latin typeface="Inter" pitchFamily="34" charset="0"/>
                <a:ea typeface="Inter" pitchFamily="34" charset="-122"/>
                <a:cs typeface="Inter" pitchFamily="34" charset="-120"/>
              </a:rPr>
              <a:t>“Probably sent 500 emails with this thing. Couldn't imagine doing that myself.”</a:t>
            </a:r>
            <a:endParaRPr lang="en-US" sz="1725" dirty="0"/>
          </a:p>
        </p:txBody>
      </p:sp>
      <p:sp>
        <p:nvSpPr>
          <p:cNvPr id="14" name="Text 12"/>
          <p:cNvSpPr/>
          <p:nvPr/>
        </p:nvSpPr>
        <p:spPr>
          <a:xfrm>
            <a:off x="9744075" y="4524375"/>
            <a:ext cx="7879080" cy="247650"/>
          </a:xfrm>
          <a:prstGeom prst="rect">
            <a:avLst/>
          </a:prstGeom>
          <a:noFill/>
          <a:ln/>
        </p:spPr>
        <p:txBody>
          <a:bodyPr wrap="square" lIns="25400" tIns="25400" rIns="25400" bIns="25400" rtlCol="0" anchor="t">
            <a:normAutofit/>
          </a:bodyPr>
          <a:lstStyle/>
          <a:p>
            <a:pPr algn="l" indent="0" marL="0">
              <a:buNone/>
            </a:pPr>
            <a:r>
              <a:rPr lang="en-US" sz="1350" b="1" dirty="0">
                <a:solidFill>
                  <a:srgbClr val="64748B"/>
                </a:solidFill>
                <a:latin typeface="Inter" pitchFamily="34" charset="0"/>
                <a:ea typeface="Inter" pitchFamily="34" charset="-122"/>
                <a:cs typeface="Inter" pitchFamily="34" charset="-120"/>
              </a:rPr>
              <a:t>Luke Brooks</a:t>
            </a:r>
            <a:endParaRPr lang="en-US" sz="1350" dirty="0"/>
          </a:p>
        </p:txBody>
      </p:sp>
      <p:sp>
        <p:nvSpPr>
          <p:cNvPr id="15" name="Shape 13"/>
          <p:cNvSpPr/>
          <p:nvPr/>
        </p:nvSpPr>
        <p:spPr>
          <a:xfrm>
            <a:off x="9410700" y="5238750"/>
            <a:ext cx="7829550" cy="1647825"/>
          </a:xfrm>
          <a:prstGeom prst="roundRect">
            <a:avLst>
              <a:gd name="adj" fmla="val 9249"/>
            </a:avLst>
          </a:prstGeom>
          <a:solidFill>
            <a:srgbClr val="FFFFFF"/>
          </a:solidFill>
          <a:ln w="9525">
            <a:solidFill>
              <a:srgbClr val="D4CEC7"/>
            </a:solidFill>
            <a:prstDash val="solid"/>
          </a:ln>
          <a:effectLst>
            <a:outerShdw sx="100000" sy="100000" kx="0" ky="0" algn="bl" rotWithShape="0" blurRad="152400" dist="38100" dir="5400000">
              <a:srgbClr val="1A1A1A">
                <a:alpha val="6000"/>
              </a:srgbClr>
            </a:outerShdw>
          </a:effectLst>
        </p:spPr>
      </p:sp>
      <p:sp>
        <p:nvSpPr>
          <p:cNvPr id="16" name="Text 14"/>
          <p:cNvSpPr/>
          <p:nvPr/>
        </p:nvSpPr>
        <p:spPr>
          <a:xfrm>
            <a:off x="9744075" y="5553075"/>
            <a:ext cx="7377684" cy="695325"/>
          </a:xfrm>
          <a:prstGeom prst="rect">
            <a:avLst/>
          </a:prstGeom>
          <a:noFill/>
          <a:ln/>
        </p:spPr>
        <p:txBody>
          <a:bodyPr wrap="square" lIns="25400" tIns="25400" rIns="25400" bIns="25400" rtlCol="0" anchor="t">
            <a:normAutofit/>
          </a:bodyPr>
          <a:lstStyle/>
          <a:p>
            <a:pPr algn="l" indent="0" marL="0">
              <a:lnSpc>
                <a:spcPct val="123214"/>
              </a:lnSpc>
              <a:buNone/>
            </a:pPr>
            <a:r>
              <a:rPr lang="en-US" sz="1725" i="1" dirty="0">
                <a:solidFill>
                  <a:srgbClr val="0A0A0A"/>
                </a:solidFill>
                <a:latin typeface="Inter" pitchFamily="34" charset="0"/>
                <a:ea typeface="Inter" pitchFamily="34" charset="-122"/>
                <a:cs typeface="Inter" pitchFamily="34" charset="-120"/>
              </a:rPr>
              <a:t>“It made me much more confident and productive. Started landing interviews weeks after using it.”</a:t>
            </a:r>
            <a:endParaRPr lang="en-US" sz="1725" dirty="0"/>
          </a:p>
        </p:txBody>
      </p:sp>
      <p:sp>
        <p:nvSpPr>
          <p:cNvPr id="17" name="Text 15"/>
          <p:cNvSpPr/>
          <p:nvPr/>
        </p:nvSpPr>
        <p:spPr>
          <a:xfrm>
            <a:off x="9744075" y="6362700"/>
            <a:ext cx="7879080" cy="247650"/>
          </a:xfrm>
          <a:prstGeom prst="rect">
            <a:avLst/>
          </a:prstGeom>
          <a:noFill/>
          <a:ln/>
        </p:spPr>
        <p:txBody>
          <a:bodyPr wrap="square" lIns="25400" tIns="25400" rIns="25400" bIns="25400" rtlCol="0" anchor="t">
            <a:normAutofit/>
          </a:bodyPr>
          <a:lstStyle/>
          <a:p>
            <a:pPr algn="l" indent="0" marL="0">
              <a:buNone/>
            </a:pPr>
            <a:r>
              <a:rPr lang="en-US" sz="1350" b="1" dirty="0">
                <a:solidFill>
                  <a:srgbClr val="64748B"/>
                </a:solidFill>
                <a:latin typeface="Inter" pitchFamily="34" charset="0"/>
                <a:ea typeface="Inter" pitchFamily="34" charset="-122"/>
                <a:cs typeface="Inter" pitchFamily="34" charset="-120"/>
              </a:rPr>
              <a:t>Dylan Roby</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07A3E"/>
        </a:solidFill>
      </p:bgPr>
    </p:bg>
    <p:spTree>
      <p:nvGrpSpPr>
        <p:cNvPr id="1" name=""/>
        <p:cNvGrpSpPr/>
        <p:nvPr/>
      </p:nvGrpSpPr>
      <p:grpSpPr>
        <a:xfrm>
          <a:off x="0" y="0"/>
          <a:ext cx="0" cy="0"/>
          <a:chOff x="0" y="0"/>
          <a:chExt cx="0" cy="0"/>
        </a:xfrm>
      </p:grpSpPr>
      <p:sp>
        <p:nvSpPr>
          <p:cNvPr id="2" name="Text 0"/>
          <p:cNvSpPr/>
          <p:nvPr/>
        </p:nvSpPr>
        <p:spPr>
          <a:xfrm>
            <a:off x="1143000" y="3168328"/>
            <a:ext cx="17602200" cy="216173"/>
          </a:xfrm>
          <a:prstGeom prst="rect">
            <a:avLst/>
          </a:prstGeom>
          <a:noFill/>
          <a:ln/>
        </p:spPr>
        <p:txBody>
          <a:bodyPr wrap="square" lIns="25400" tIns="25400" rIns="25400" bIns="25400" rtlCol="0" anchor="t">
            <a:normAutofit/>
          </a:bodyPr>
          <a:lstStyle/>
          <a:p>
            <a:pPr algn="l" indent="0" marL="0">
              <a:lnSpc>
                <a:spcPct val="91220"/>
              </a:lnSpc>
              <a:buNone/>
            </a:pPr>
            <a:r>
              <a:rPr lang="en-US" sz="1275" b="1" spc="127" kern="0" dirty="0">
                <a:solidFill>
                  <a:srgbClr val="FFFFFF">
                    <a:alpha val="85000"/>
                  </a:srgbClr>
                </a:solidFill>
                <a:latin typeface="Inter" pitchFamily="34" charset="0"/>
                <a:ea typeface="Inter" pitchFamily="34" charset="-122"/>
                <a:cs typeface="Inter" pitchFamily="34" charset="-120"/>
              </a:rPr>
              <a:t>DO IT WITH ME</a:t>
            </a:r>
            <a:endParaRPr lang="en-US" sz="1275" dirty="0"/>
          </a:p>
        </p:txBody>
      </p:sp>
      <p:sp>
        <p:nvSpPr>
          <p:cNvPr id="3" name="Text 1"/>
          <p:cNvSpPr/>
          <p:nvPr/>
        </p:nvSpPr>
        <p:spPr>
          <a:xfrm>
            <a:off x="1143000" y="3632150"/>
            <a:ext cx="12753975" cy="1781473"/>
          </a:xfrm>
          <a:prstGeom prst="rect">
            <a:avLst/>
          </a:prstGeom>
          <a:noFill/>
          <a:ln/>
        </p:spPr>
        <p:txBody>
          <a:bodyPr wrap="square" lIns="25400" tIns="25400" rIns="25400" bIns="25400" rtlCol="0" anchor="t">
            <a:normAutofit/>
          </a:bodyPr>
          <a:lstStyle/>
          <a:p>
            <a:pPr algn="l" indent="0" marL="0">
              <a:lnSpc>
                <a:spcPct val="81351"/>
              </a:lnSpc>
              <a:buNone/>
            </a:pPr>
            <a:r>
              <a:rPr lang="en-US" sz="6600" b="1" spc="-165" kern="0" dirty="0">
                <a:solidFill>
                  <a:srgbClr val="FFFFFF"/>
                </a:solidFill>
                <a:latin typeface="Lora" pitchFamily="34" charset="0"/>
                <a:ea typeface="Lora" pitchFamily="34" charset="-122"/>
                <a:cs typeface="Lora" pitchFamily="34" charset="-120"/>
              </a:rPr>
              <a:t>Grab your laptop. Let's set up </a:t>
            </a:r>
            <a:pPr algn="l" indent="0" marL="0">
              <a:lnSpc>
                <a:spcPct val="81351"/>
              </a:lnSpc>
              <a:buNone/>
            </a:pPr>
            <a:r>
              <a:rPr lang="en-US" sz="6600" b="1" i="1" spc="-165" kern="0" dirty="0">
                <a:solidFill>
                  <a:srgbClr val="FBE6D6"/>
                </a:solidFill>
                <a:latin typeface="Lora" pitchFamily="34" charset="0"/>
                <a:ea typeface="Lora" pitchFamily="34" charset="-122"/>
                <a:cs typeface="Lora" pitchFamily="34" charset="-120"/>
              </a:rPr>
              <a:t>Scout.</a:t>
            </a:r>
            <a:endParaRPr lang="en-US" sz="6600" dirty="0"/>
          </a:p>
        </p:txBody>
      </p:sp>
      <p:sp>
        <p:nvSpPr>
          <p:cNvPr id="4" name="Text 2"/>
          <p:cNvSpPr/>
          <p:nvPr/>
        </p:nvSpPr>
        <p:spPr>
          <a:xfrm>
            <a:off x="1143000" y="5642223"/>
            <a:ext cx="10477500" cy="46672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FFFFFF">
                    <a:alpha val="90000"/>
                  </a:srgbClr>
                </a:solidFill>
                <a:latin typeface="Inter" pitchFamily="34" charset="0"/>
                <a:ea typeface="Inter" pitchFamily="34" charset="-122"/>
                <a:cs typeface="Inter" pitchFamily="34" charset="-120"/>
              </a:rPr>
              <a:t>Two steps, about sixty seconds. Open Chrome and follow along.</a:t>
            </a:r>
            <a:endParaRPr lang="en-US" sz="2250" dirty="0"/>
          </a:p>
        </p:txBody>
      </p:sp>
      <p:sp>
        <p:nvSpPr>
          <p:cNvPr id="5" name="Shape 3"/>
          <p:cNvSpPr/>
          <p:nvPr/>
        </p:nvSpPr>
        <p:spPr>
          <a:xfrm>
            <a:off x="1143000" y="6489948"/>
            <a:ext cx="2947095" cy="628650"/>
          </a:xfrm>
          <a:prstGeom prst="roundRect">
            <a:avLst>
              <a:gd name="adj" fmla="val 50000"/>
            </a:avLst>
          </a:prstGeom>
          <a:solidFill>
            <a:srgbClr val="FFFFFF">
              <a:alpha val="16000"/>
            </a:srgbClr>
          </a:solidFill>
          <a:ln w="9525">
            <a:solidFill>
              <a:srgbClr val="FFFFFF">
                <a:alpha val="35000"/>
              </a:srgbClr>
            </a:solidFill>
            <a:prstDash val="solid"/>
          </a:ln>
        </p:spPr>
      </p:sp>
      <p:sp>
        <p:nvSpPr>
          <p:cNvPr id="6" name="Shape 4"/>
          <p:cNvSpPr/>
          <p:nvPr/>
        </p:nvSpPr>
        <p:spPr>
          <a:xfrm>
            <a:off x="1438275" y="6651873"/>
            <a:ext cx="304800" cy="304800"/>
          </a:xfrm>
          <a:prstGeom prst="ellipse">
            <a:avLst/>
          </a:prstGeom>
          <a:solidFill>
            <a:srgbClr val="FFFFFF"/>
          </a:solidFill>
          <a:ln/>
        </p:spPr>
      </p:sp>
      <p:sp>
        <p:nvSpPr>
          <p:cNvPr id="7" name="Text 5"/>
          <p:cNvSpPr/>
          <p:nvPr/>
        </p:nvSpPr>
        <p:spPr>
          <a:xfrm>
            <a:off x="1400175" y="6651873"/>
            <a:ext cx="381000" cy="342900"/>
          </a:xfrm>
          <a:prstGeom prst="rect">
            <a:avLst/>
          </a:prstGeom>
          <a:noFill/>
          <a:ln/>
        </p:spPr>
        <p:txBody>
          <a:bodyPr wrap="square" lIns="25400" tIns="25400" rIns="25400" bIns="25400" rtlCol="0" anchor="ctr">
            <a:normAutofit/>
          </a:bodyPr>
          <a:lstStyle/>
          <a:p>
            <a:pPr algn="ctr" indent="0" marL="0">
              <a:buNone/>
            </a:pPr>
            <a:r>
              <a:rPr lang="en-US" sz="1725" b="1" dirty="0">
                <a:solidFill>
                  <a:srgbClr val="C9652C"/>
                </a:solidFill>
                <a:latin typeface="Lora" pitchFamily="34" charset="0"/>
                <a:ea typeface="Lora" pitchFamily="34" charset="-122"/>
                <a:cs typeface="Lora" pitchFamily="34" charset="-120"/>
              </a:rPr>
              <a:t>1</a:t>
            </a:r>
            <a:endParaRPr lang="en-US" sz="1725" dirty="0"/>
          </a:p>
        </p:txBody>
      </p:sp>
      <p:sp>
        <p:nvSpPr>
          <p:cNvPr id="8" name="Text 6"/>
          <p:cNvSpPr/>
          <p:nvPr/>
        </p:nvSpPr>
        <p:spPr>
          <a:xfrm>
            <a:off x="1876425" y="6670923"/>
            <a:ext cx="1994595" cy="304800"/>
          </a:xfrm>
          <a:prstGeom prst="rect">
            <a:avLst/>
          </a:prstGeom>
          <a:noFill/>
          <a:ln/>
        </p:spPr>
        <p:txBody>
          <a:bodyPr wrap="square" lIns="0" tIns="0" rIns="0" bIns="0" rtlCol="0" anchor="t">
            <a:normAutofit/>
          </a:bodyPr>
          <a:lstStyle/>
          <a:p>
            <a:pPr algn="l" indent="0" marL="0">
              <a:buNone/>
            </a:pPr>
            <a:r>
              <a:rPr lang="en-US" sz="1725" b="1" dirty="0">
                <a:solidFill>
                  <a:srgbClr val="FFFFFF"/>
                </a:solidFill>
                <a:latin typeface="Inter" pitchFamily="34" charset="0"/>
                <a:ea typeface="Inter" pitchFamily="34" charset="-122"/>
                <a:cs typeface="Inter" pitchFamily="34" charset="-120"/>
              </a:rPr>
              <a:t>Add the extension</a:t>
            </a:r>
            <a:endParaRPr lang="en-US" sz="1725" dirty="0"/>
          </a:p>
        </p:txBody>
      </p:sp>
      <p:sp>
        <p:nvSpPr>
          <p:cNvPr id="9" name="Shape 7"/>
          <p:cNvSpPr/>
          <p:nvPr/>
        </p:nvSpPr>
        <p:spPr>
          <a:xfrm>
            <a:off x="4280595" y="6489948"/>
            <a:ext cx="3184252" cy="628650"/>
          </a:xfrm>
          <a:prstGeom prst="roundRect">
            <a:avLst>
              <a:gd name="adj" fmla="val 50000"/>
            </a:avLst>
          </a:prstGeom>
          <a:solidFill>
            <a:srgbClr val="FFFFFF">
              <a:alpha val="16000"/>
            </a:srgbClr>
          </a:solidFill>
          <a:ln w="9525">
            <a:solidFill>
              <a:srgbClr val="FFFFFF">
                <a:alpha val="35000"/>
              </a:srgbClr>
            </a:solidFill>
            <a:prstDash val="solid"/>
          </a:ln>
        </p:spPr>
      </p:sp>
      <p:sp>
        <p:nvSpPr>
          <p:cNvPr id="10" name="Shape 8"/>
          <p:cNvSpPr/>
          <p:nvPr/>
        </p:nvSpPr>
        <p:spPr>
          <a:xfrm>
            <a:off x="4575870" y="6651873"/>
            <a:ext cx="304800" cy="304800"/>
          </a:xfrm>
          <a:prstGeom prst="ellipse">
            <a:avLst/>
          </a:prstGeom>
          <a:solidFill>
            <a:srgbClr val="FFFFFF"/>
          </a:solidFill>
          <a:ln/>
        </p:spPr>
      </p:sp>
      <p:sp>
        <p:nvSpPr>
          <p:cNvPr id="11" name="Text 9"/>
          <p:cNvSpPr/>
          <p:nvPr/>
        </p:nvSpPr>
        <p:spPr>
          <a:xfrm>
            <a:off x="4537770" y="6651873"/>
            <a:ext cx="381000" cy="342900"/>
          </a:xfrm>
          <a:prstGeom prst="rect">
            <a:avLst/>
          </a:prstGeom>
          <a:noFill/>
          <a:ln/>
        </p:spPr>
        <p:txBody>
          <a:bodyPr wrap="square" lIns="25400" tIns="25400" rIns="25400" bIns="25400" rtlCol="0" anchor="ctr">
            <a:normAutofit/>
          </a:bodyPr>
          <a:lstStyle/>
          <a:p>
            <a:pPr algn="ctr" indent="0" marL="0">
              <a:buNone/>
            </a:pPr>
            <a:r>
              <a:rPr lang="en-US" sz="1725" b="1" dirty="0">
                <a:solidFill>
                  <a:srgbClr val="C9652C"/>
                </a:solidFill>
                <a:latin typeface="Lora" pitchFamily="34" charset="0"/>
                <a:ea typeface="Lora" pitchFamily="34" charset="-122"/>
                <a:cs typeface="Lora" pitchFamily="34" charset="-120"/>
              </a:rPr>
              <a:t>2</a:t>
            </a:r>
            <a:endParaRPr lang="en-US" sz="1725" dirty="0"/>
          </a:p>
        </p:txBody>
      </p:sp>
      <p:sp>
        <p:nvSpPr>
          <p:cNvPr id="12" name="Text 10"/>
          <p:cNvSpPr/>
          <p:nvPr/>
        </p:nvSpPr>
        <p:spPr>
          <a:xfrm>
            <a:off x="5014020" y="6670923"/>
            <a:ext cx="2231752" cy="304800"/>
          </a:xfrm>
          <a:prstGeom prst="rect">
            <a:avLst/>
          </a:prstGeom>
          <a:noFill/>
          <a:ln/>
        </p:spPr>
        <p:txBody>
          <a:bodyPr wrap="square" lIns="0" tIns="0" rIns="0" bIns="0" rtlCol="0" anchor="t">
            <a:normAutofit/>
          </a:bodyPr>
          <a:lstStyle/>
          <a:p>
            <a:pPr algn="l" indent="0" marL="0">
              <a:buNone/>
            </a:pPr>
            <a:r>
              <a:rPr lang="en-US" sz="1725" b="1" dirty="0">
                <a:solidFill>
                  <a:srgbClr val="FFFFFF"/>
                </a:solidFill>
                <a:latin typeface="Inter" pitchFamily="34" charset="0"/>
                <a:ea typeface="Inter" pitchFamily="34" charset="-122"/>
                <a:cs typeface="Inter" pitchFamily="34" charset="-120"/>
              </a:rPr>
              <a:t>Create your account</a:t>
            </a:r>
            <a:endParaRPr lang="en-US" sz="17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1047750" y="3415680"/>
            <a:ext cx="609600" cy="609600"/>
          </a:xfrm>
          <a:prstGeom prst="roundRect">
            <a:avLst>
              <a:gd name="adj" fmla="val 18750"/>
            </a:avLst>
          </a:prstGeom>
          <a:solidFill>
            <a:srgbClr val="4A60A8"/>
          </a:solidFill>
          <a:ln/>
        </p:spPr>
      </p:sp>
      <p:sp>
        <p:nvSpPr>
          <p:cNvPr id="3" name="Text 1"/>
          <p:cNvSpPr/>
          <p:nvPr/>
        </p:nvSpPr>
        <p:spPr>
          <a:xfrm>
            <a:off x="1009650" y="3415680"/>
            <a:ext cx="685800" cy="647700"/>
          </a:xfrm>
          <a:prstGeom prst="rect">
            <a:avLst/>
          </a:prstGeom>
          <a:noFill/>
          <a:ln/>
        </p:spPr>
        <p:txBody>
          <a:bodyPr wrap="square" lIns="25400" tIns="25400" rIns="25400" bIns="25400" rtlCol="0" anchor="ctr">
            <a:normAutofit/>
          </a:bodyPr>
          <a:lstStyle/>
          <a:p>
            <a:pPr algn="ctr" indent="0" marL="0">
              <a:buNone/>
            </a:pPr>
            <a:r>
              <a:rPr lang="en-US" sz="2400" b="1" dirty="0">
                <a:solidFill>
                  <a:srgbClr val="FFFFFF"/>
                </a:solidFill>
                <a:latin typeface="Lora" pitchFamily="34" charset="0"/>
                <a:ea typeface="Lora" pitchFamily="34" charset="-122"/>
                <a:cs typeface="Lora" pitchFamily="34" charset="-120"/>
              </a:rPr>
              <a:t>01</a:t>
            </a:r>
            <a:endParaRPr lang="en-US" sz="2400" dirty="0"/>
          </a:p>
        </p:txBody>
      </p:sp>
      <p:sp>
        <p:nvSpPr>
          <p:cNvPr id="4" name="Text 2"/>
          <p:cNvSpPr/>
          <p:nvPr/>
        </p:nvSpPr>
        <p:spPr>
          <a:xfrm>
            <a:off x="1828800" y="3631406"/>
            <a:ext cx="1005557" cy="216173"/>
          </a:xfrm>
          <a:prstGeom prst="rect">
            <a:avLst/>
          </a:prstGeom>
          <a:noFill/>
          <a:ln/>
        </p:spPr>
        <p:txBody>
          <a:bodyPr wrap="square" lIns="25400" tIns="25400" rIns="25400" bIns="25400" rtlCol="0" anchor="t">
            <a:normAutofit/>
          </a:bodyPr>
          <a:lstStyle/>
          <a:p>
            <a:pPr algn="l" indent="0" marL="0">
              <a:lnSpc>
                <a:spcPct val="91220"/>
              </a:lnSpc>
              <a:buNone/>
            </a:pPr>
            <a:r>
              <a:rPr lang="en-US" sz="1275" b="1" spc="127" kern="0" dirty="0">
                <a:solidFill>
                  <a:srgbClr val="4A60A8"/>
                </a:solidFill>
                <a:latin typeface="Inter" pitchFamily="34" charset="0"/>
                <a:ea typeface="Inter" pitchFamily="34" charset="-122"/>
                <a:cs typeface="Inter" pitchFamily="34" charset="-120"/>
              </a:rPr>
              <a:t>STEP ONE</a:t>
            </a:r>
            <a:endParaRPr lang="en-US" sz="1275" dirty="0"/>
          </a:p>
        </p:txBody>
      </p:sp>
      <p:sp>
        <p:nvSpPr>
          <p:cNvPr id="5" name="Text 3"/>
          <p:cNvSpPr/>
          <p:nvPr/>
        </p:nvSpPr>
        <p:spPr>
          <a:xfrm>
            <a:off x="1047750" y="4272930"/>
            <a:ext cx="10334990" cy="643830"/>
          </a:xfrm>
          <a:prstGeom prst="rect">
            <a:avLst/>
          </a:prstGeom>
          <a:noFill/>
          <a:ln/>
        </p:spPr>
        <p:txBody>
          <a:bodyPr wrap="square" lIns="25400" tIns="25400" rIns="25400" bIns="25400" rtlCol="0" anchor="t">
            <a:normAutofit/>
          </a:bodyPr>
          <a:lstStyle/>
          <a:p>
            <a:pPr algn="l" indent="0" marL="0">
              <a:lnSpc>
                <a:spcPct val="82597"/>
              </a:lnSpc>
              <a:buNone/>
            </a:pPr>
            <a:r>
              <a:rPr lang="en-US" sz="4500" b="1" spc="-90" kern="0" dirty="0">
                <a:solidFill>
                  <a:srgbClr val="1E2D4D"/>
                </a:solidFill>
                <a:latin typeface="Lora" pitchFamily="34" charset="0"/>
                <a:ea typeface="Lora" pitchFamily="34" charset="-122"/>
                <a:cs typeface="Lora" pitchFamily="34" charset="-120"/>
              </a:rPr>
              <a:t>Add the extension</a:t>
            </a:r>
            <a:endParaRPr lang="en-US" sz="4500" dirty="0"/>
          </a:p>
        </p:txBody>
      </p:sp>
      <p:sp>
        <p:nvSpPr>
          <p:cNvPr id="6" name="Shape 4"/>
          <p:cNvSpPr/>
          <p:nvPr/>
        </p:nvSpPr>
        <p:spPr>
          <a:xfrm>
            <a:off x="1047750" y="5259660"/>
            <a:ext cx="381000" cy="381000"/>
          </a:xfrm>
          <a:prstGeom prst="ellipse">
            <a:avLst/>
          </a:prstGeom>
          <a:solidFill>
            <a:srgbClr val="E4E9F5"/>
          </a:solidFill>
          <a:ln/>
        </p:spPr>
      </p:sp>
      <p:sp>
        <p:nvSpPr>
          <p:cNvPr id="7" name="Text 5"/>
          <p:cNvSpPr/>
          <p:nvPr/>
        </p:nvSpPr>
        <p:spPr>
          <a:xfrm>
            <a:off x="1009650" y="5259660"/>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4A60A8"/>
                </a:solidFill>
                <a:latin typeface="Inter" pitchFamily="34" charset="0"/>
                <a:ea typeface="Inter" pitchFamily="34" charset="-122"/>
                <a:cs typeface="Inter" pitchFamily="34" charset="-120"/>
              </a:rPr>
              <a:t>1</a:t>
            </a:r>
            <a:endParaRPr lang="en-US" sz="1500" dirty="0"/>
          </a:p>
        </p:txBody>
      </p:sp>
      <p:sp>
        <p:nvSpPr>
          <p:cNvPr id="8" name="Text 6"/>
          <p:cNvSpPr/>
          <p:nvPr/>
        </p:nvSpPr>
        <p:spPr>
          <a:xfrm>
            <a:off x="1600200" y="5297760"/>
            <a:ext cx="3751682" cy="384795"/>
          </a:xfrm>
          <a:prstGeom prst="rect">
            <a:avLst/>
          </a:prstGeom>
          <a:noFill/>
          <a:ln/>
        </p:spPr>
        <p:txBody>
          <a:bodyPr wrap="square" lIns="25400" tIns="25400" rIns="25400" bIns="25400" rtlCol="0" anchor="t">
            <a:normAutofit/>
          </a:bodyPr>
          <a:lstStyle/>
          <a:p>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Open the </a:t>
            </a:r>
            <a:pPr algn="l" indent="0" marL="0">
              <a:lnSpc>
                <a:spcPct val="115556"/>
              </a:lnSpc>
              <a:buNone/>
            </a:pPr>
            <a:r>
              <a:rPr lang="en-US" sz="1950" b="1" dirty="0">
                <a:solidFill>
                  <a:srgbClr val="1E2D4D"/>
                </a:solidFill>
                <a:latin typeface="Inter" pitchFamily="34" charset="0"/>
                <a:ea typeface="Inter" pitchFamily="34" charset="-122"/>
                <a:cs typeface="Inter" pitchFamily="34" charset="-120"/>
              </a:rPr>
              <a:t>Chrome Web Store</a:t>
            </a:r>
            <a:endParaRPr lang="en-US" sz="1950" dirty="0"/>
          </a:p>
        </p:txBody>
      </p:sp>
      <p:sp>
        <p:nvSpPr>
          <p:cNvPr id="9" name="Shape 7"/>
          <p:cNvSpPr/>
          <p:nvPr/>
        </p:nvSpPr>
        <p:spPr>
          <a:xfrm>
            <a:off x="1047750" y="5873055"/>
            <a:ext cx="381000" cy="381000"/>
          </a:xfrm>
          <a:prstGeom prst="ellipse">
            <a:avLst/>
          </a:prstGeom>
          <a:solidFill>
            <a:srgbClr val="E4E9F5"/>
          </a:solidFill>
          <a:ln/>
        </p:spPr>
      </p:sp>
      <p:sp>
        <p:nvSpPr>
          <p:cNvPr id="10" name="Text 8"/>
          <p:cNvSpPr/>
          <p:nvPr/>
        </p:nvSpPr>
        <p:spPr>
          <a:xfrm>
            <a:off x="1009650" y="5873055"/>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4A60A8"/>
                </a:solidFill>
                <a:latin typeface="Inter" pitchFamily="34" charset="0"/>
                <a:ea typeface="Inter" pitchFamily="34" charset="-122"/>
                <a:cs typeface="Inter" pitchFamily="34" charset="-120"/>
              </a:rPr>
              <a:t>2</a:t>
            </a:r>
            <a:endParaRPr lang="en-US" sz="1500" dirty="0"/>
          </a:p>
        </p:txBody>
      </p:sp>
      <p:sp>
        <p:nvSpPr>
          <p:cNvPr id="11" name="Text 9"/>
          <p:cNvSpPr/>
          <p:nvPr/>
        </p:nvSpPr>
        <p:spPr>
          <a:xfrm>
            <a:off x="1600200" y="5911155"/>
            <a:ext cx="5512393" cy="384795"/>
          </a:xfrm>
          <a:prstGeom prst="rect">
            <a:avLst/>
          </a:prstGeom>
          <a:noFill/>
          <a:ln/>
        </p:spPr>
        <p:txBody>
          <a:bodyPr wrap="square" lIns="25400" tIns="25400" rIns="25400" bIns="25400" rtlCol="0" anchor="t">
            <a:normAutofit/>
          </a:bodyPr>
          <a:lstStyle/>
          <a:p>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Search </a:t>
            </a:r>
            <a:pPr algn="l" indent="0" marL="0">
              <a:lnSpc>
                <a:spcPct val="115556"/>
              </a:lnSpc>
              <a:buNone/>
            </a:pPr>
            <a:r>
              <a:rPr lang="en-US" sz="1950" b="1" dirty="0">
                <a:solidFill>
                  <a:srgbClr val="1E2D4D"/>
                </a:solidFill>
                <a:latin typeface="Inter" pitchFamily="34" charset="0"/>
                <a:ea typeface="Inter" pitchFamily="34" charset="-122"/>
                <a:cs typeface="Inter" pitchFamily="34" charset="-120"/>
              </a:rPr>
              <a:t>“Offerloop”</a:t>
            </a:r>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 look for the loop mark</a:t>
            </a:r>
            <a:endParaRPr lang="en-US" sz="1950" dirty="0"/>
          </a:p>
        </p:txBody>
      </p:sp>
      <p:sp>
        <p:nvSpPr>
          <p:cNvPr id="12" name="Shape 10"/>
          <p:cNvSpPr/>
          <p:nvPr/>
        </p:nvSpPr>
        <p:spPr>
          <a:xfrm>
            <a:off x="1047750" y="6486451"/>
            <a:ext cx="381000" cy="381000"/>
          </a:xfrm>
          <a:prstGeom prst="ellipse">
            <a:avLst/>
          </a:prstGeom>
          <a:solidFill>
            <a:srgbClr val="E4E9F5"/>
          </a:solidFill>
          <a:ln/>
        </p:spPr>
      </p:sp>
      <p:sp>
        <p:nvSpPr>
          <p:cNvPr id="13" name="Text 11"/>
          <p:cNvSpPr/>
          <p:nvPr/>
        </p:nvSpPr>
        <p:spPr>
          <a:xfrm>
            <a:off x="1009650" y="6486451"/>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4A60A8"/>
                </a:solidFill>
                <a:latin typeface="Inter" pitchFamily="34" charset="0"/>
                <a:ea typeface="Inter" pitchFamily="34" charset="-122"/>
                <a:cs typeface="Inter" pitchFamily="34" charset="-120"/>
              </a:rPr>
              <a:t>3</a:t>
            </a:r>
            <a:endParaRPr lang="en-US" sz="1500" dirty="0"/>
          </a:p>
        </p:txBody>
      </p:sp>
      <p:sp>
        <p:nvSpPr>
          <p:cNvPr id="14" name="Text 12"/>
          <p:cNvSpPr/>
          <p:nvPr/>
        </p:nvSpPr>
        <p:spPr>
          <a:xfrm>
            <a:off x="1600200" y="6524551"/>
            <a:ext cx="6445136" cy="384795"/>
          </a:xfrm>
          <a:prstGeom prst="rect">
            <a:avLst/>
          </a:prstGeom>
          <a:noFill/>
          <a:ln/>
        </p:spPr>
        <p:txBody>
          <a:bodyPr wrap="square" lIns="25400" tIns="25400" rIns="25400" bIns="25400" rtlCol="0" anchor="t">
            <a:normAutofit/>
          </a:bodyPr>
          <a:lstStyle/>
          <a:p>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Click </a:t>
            </a:r>
            <a:pPr algn="l" indent="0" marL="0">
              <a:lnSpc>
                <a:spcPct val="115556"/>
              </a:lnSpc>
              <a:buNone/>
            </a:pPr>
            <a:r>
              <a:rPr lang="en-US" sz="1950" b="1" dirty="0">
                <a:solidFill>
                  <a:srgbClr val="1E2D4D"/>
                </a:solidFill>
                <a:latin typeface="Inter" pitchFamily="34" charset="0"/>
                <a:ea typeface="Inter" pitchFamily="34" charset="-122"/>
                <a:cs typeface="Inter" pitchFamily="34" charset="-120"/>
              </a:rPr>
              <a:t>Add to Chrome </a:t>
            </a:r>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 </a:t>
            </a:r>
            <a:pPr algn="l" indent="0" marL="0">
              <a:lnSpc>
                <a:spcPct val="115556"/>
              </a:lnSpc>
              <a:buNone/>
            </a:pPr>
            <a:r>
              <a:rPr lang="en-US" sz="1950" b="1" dirty="0">
                <a:solidFill>
                  <a:srgbClr val="1E2D4D"/>
                </a:solidFill>
                <a:latin typeface="Inter" pitchFamily="34" charset="0"/>
                <a:ea typeface="Inter" pitchFamily="34" charset="-122"/>
                <a:cs typeface="Inter" pitchFamily="34" charset="-120"/>
              </a:rPr>
              <a:t>Add extension</a:t>
            </a:r>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 then pin it</a:t>
            </a:r>
            <a:endParaRPr lang="en-US" sz="1950" dirty="0"/>
          </a:p>
        </p:txBody>
      </p:sp>
      <p:sp>
        <p:nvSpPr>
          <p:cNvPr id="15" name="Shape 13"/>
          <p:cNvSpPr/>
          <p:nvPr/>
        </p:nvSpPr>
        <p:spPr>
          <a:xfrm>
            <a:off x="12698685" y="3517106"/>
            <a:ext cx="2819400" cy="2819400"/>
          </a:xfrm>
          <a:prstGeom prst="roundRect">
            <a:avLst>
              <a:gd name="adj" fmla="val 5405"/>
            </a:avLst>
          </a:prstGeom>
          <a:solidFill>
            <a:srgbClr val="FFFFFF"/>
          </a:solidFill>
          <a:ln w="28575">
            <a:solidFill>
              <a:srgbClr val="D4CEC7"/>
            </a:solidFill>
            <a:prstDash val="dash"/>
          </a:ln>
          <a:effectLst>
            <a:outerShdw sx="100000" sy="100000" kx="0" ky="0" algn="bl" rotWithShape="0" blurRad="152400" dist="38100" dir="5400000">
              <a:srgbClr val="1A1A1A">
                <a:alpha val="6000"/>
              </a:srgbClr>
            </a:outerShdw>
          </a:effectLst>
        </p:spPr>
      </p:sp>
      <p:pic>
        <p:nvPicPr>
          <p:cNvPr id="16" name="Image 0" descr="preencoded.png">    </p:cNvPr>
          <p:cNvPicPr>
            <a:picLocks noChangeAspect="1"/>
          </p:cNvPicPr>
          <p:nvPr/>
        </p:nvPicPr>
        <p:blipFill>
          <a:blip r:embed="rId1">
            <a:alphaModFix amt="50000"/>
          </a:blip>
          <a:stretch>
            <a:fillRect/>
          </a:stretch>
        </p:blipFill>
        <p:spPr>
          <a:xfrm>
            <a:off x="13902705" y="4502944"/>
            <a:ext cx="411287" cy="495300"/>
          </a:xfrm>
          <a:prstGeom prst="rect">
            <a:avLst/>
          </a:prstGeom>
        </p:spPr>
      </p:pic>
      <p:sp>
        <p:nvSpPr>
          <p:cNvPr id="17" name="Text 14"/>
          <p:cNvSpPr/>
          <p:nvPr/>
        </p:nvSpPr>
        <p:spPr>
          <a:xfrm>
            <a:off x="13636898" y="5131594"/>
            <a:ext cx="1019175" cy="257175"/>
          </a:xfrm>
          <a:prstGeom prst="rect">
            <a:avLst/>
          </a:prstGeom>
          <a:noFill/>
          <a:ln/>
        </p:spPr>
        <p:txBody>
          <a:bodyPr wrap="square" lIns="25400" tIns="25400" rIns="25400" bIns="25400" rtlCol="0" anchor="t">
            <a:normAutofit/>
          </a:bodyPr>
          <a:lstStyle/>
          <a:p>
            <a:pPr algn="l" indent="0" marL="0">
              <a:buNone/>
            </a:pPr>
            <a:r>
              <a:rPr lang="en-US" sz="1425" b="1" spc="142" kern="0" dirty="0">
                <a:solidFill>
                  <a:srgbClr val="94A3B8"/>
                </a:solidFill>
                <a:latin typeface="Inter" pitchFamily="34" charset="0"/>
                <a:ea typeface="Inter" pitchFamily="34" charset="-122"/>
                <a:cs typeface="Inter" pitchFamily="34" charset="-120"/>
              </a:rPr>
              <a:t>QR CODE</a:t>
            </a:r>
            <a:endParaRPr lang="en-US" sz="1425" dirty="0"/>
          </a:p>
        </p:txBody>
      </p:sp>
      <p:sp>
        <p:nvSpPr>
          <p:cNvPr id="18" name="Text 15"/>
          <p:cNvSpPr/>
          <p:nvPr/>
        </p:nvSpPr>
        <p:spPr>
          <a:xfrm>
            <a:off x="12635314" y="6527006"/>
            <a:ext cx="2946142" cy="280988"/>
          </a:xfrm>
          <a:prstGeom prst="rect">
            <a:avLst/>
          </a:prstGeom>
          <a:noFill/>
          <a:ln/>
        </p:spPr>
        <p:txBody>
          <a:bodyPr wrap="square" lIns="25400" tIns="25400" rIns="25400" bIns="25400" rtlCol="0" anchor="t">
            <a:normAutofit/>
          </a:bodyPr>
          <a:lstStyle/>
          <a:p>
            <a:pPr algn="ctr" indent="0" marL="0">
              <a:buNone/>
            </a:pPr>
            <a:r>
              <a:rPr lang="en-US" sz="1575" b="1" dirty="0">
                <a:solidFill>
                  <a:srgbClr val="1E2D4D"/>
                </a:solidFill>
                <a:latin typeface="Inter" pitchFamily="34" charset="0"/>
                <a:ea typeface="Inter" pitchFamily="34" charset="-122"/>
                <a:cs typeface="Inter" pitchFamily="34" charset="-120"/>
              </a:rPr>
              <a:t>Scan to open the Web Store</a:t>
            </a:r>
            <a:endParaRPr lang="en-US" sz="15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1047750" y="3415680"/>
            <a:ext cx="609600" cy="609600"/>
          </a:xfrm>
          <a:prstGeom prst="roundRect">
            <a:avLst>
              <a:gd name="adj" fmla="val 18750"/>
            </a:avLst>
          </a:prstGeom>
          <a:solidFill>
            <a:srgbClr val="4A60A8"/>
          </a:solidFill>
          <a:ln/>
        </p:spPr>
      </p:sp>
      <p:sp>
        <p:nvSpPr>
          <p:cNvPr id="3" name="Text 1"/>
          <p:cNvSpPr/>
          <p:nvPr/>
        </p:nvSpPr>
        <p:spPr>
          <a:xfrm>
            <a:off x="1009650" y="3415680"/>
            <a:ext cx="685800" cy="647700"/>
          </a:xfrm>
          <a:prstGeom prst="rect">
            <a:avLst/>
          </a:prstGeom>
          <a:noFill/>
          <a:ln/>
        </p:spPr>
        <p:txBody>
          <a:bodyPr wrap="square" lIns="25400" tIns="25400" rIns="25400" bIns="25400" rtlCol="0" anchor="ctr">
            <a:normAutofit/>
          </a:bodyPr>
          <a:lstStyle/>
          <a:p>
            <a:pPr algn="ctr" indent="0" marL="0">
              <a:buNone/>
            </a:pPr>
            <a:r>
              <a:rPr lang="en-US" sz="2400" b="1" dirty="0">
                <a:solidFill>
                  <a:srgbClr val="FFFFFF"/>
                </a:solidFill>
                <a:latin typeface="Lora" pitchFamily="34" charset="0"/>
                <a:ea typeface="Lora" pitchFamily="34" charset="-122"/>
                <a:cs typeface="Lora" pitchFamily="34" charset="-120"/>
              </a:rPr>
              <a:t>02</a:t>
            </a:r>
            <a:endParaRPr lang="en-US" sz="2400" dirty="0"/>
          </a:p>
        </p:txBody>
      </p:sp>
      <p:sp>
        <p:nvSpPr>
          <p:cNvPr id="4" name="Text 2"/>
          <p:cNvSpPr/>
          <p:nvPr/>
        </p:nvSpPr>
        <p:spPr>
          <a:xfrm>
            <a:off x="1828800" y="3631406"/>
            <a:ext cx="1054075" cy="216173"/>
          </a:xfrm>
          <a:prstGeom prst="rect">
            <a:avLst/>
          </a:prstGeom>
          <a:noFill/>
          <a:ln/>
        </p:spPr>
        <p:txBody>
          <a:bodyPr wrap="square" lIns="25400" tIns="25400" rIns="25400" bIns="25400" rtlCol="0" anchor="t">
            <a:normAutofit/>
          </a:bodyPr>
          <a:lstStyle/>
          <a:p>
            <a:pPr algn="l" indent="0" marL="0">
              <a:lnSpc>
                <a:spcPct val="91220"/>
              </a:lnSpc>
              <a:buNone/>
            </a:pPr>
            <a:r>
              <a:rPr lang="en-US" sz="1275" b="1" spc="127" kern="0" dirty="0">
                <a:solidFill>
                  <a:srgbClr val="4A60A8"/>
                </a:solidFill>
                <a:latin typeface="Inter" pitchFamily="34" charset="0"/>
                <a:ea typeface="Inter" pitchFamily="34" charset="-122"/>
                <a:cs typeface="Inter" pitchFamily="34" charset="-120"/>
              </a:rPr>
              <a:t>STEP TWO</a:t>
            </a:r>
            <a:endParaRPr lang="en-US" sz="1275" dirty="0"/>
          </a:p>
        </p:txBody>
      </p:sp>
      <p:sp>
        <p:nvSpPr>
          <p:cNvPr id="5" name="Text 3"/>
          <p:cNvSpPr/>
          <p:nvPr/>
        </p:nvSpPr>
        <p:spPr>
          <a:xfrm>
            <a:off x="1047750" y="4272930"/>
            <a:ext cx="10334990" cy="643830"/>
          </a:xfrm>
          <a:prstGeom prst="rect">
            <a:avLst/>
          </a:prstGeom>
          <a:noFill/>
          <a:ln/>
        </p:spPr>
        <p:txBody>
          <a:bodyPr wrap="square" lIns="25400" tIns="25400" rIns="25400" bIns="25400" rtlCol="0" anchor="t">
            <a:normAutofit/>
          </a:bodyPr>
          <a:lstStyle/>
          <a:p>
            <a:pPr algn="l" indent="0" marL="0">
              <a:lnSpc>
                <a:spcPct val="82597"/>
              </a:lnSpc>
              <a:buNone/>
            </a:pPr>
            <a:r>
              <a:rPr lang="en-US" sz="4500" b="1" spc="-90" kern="0" dirty="0">
                <a:solidFill>
                  <a:srgbClr val="1E2D4D"/>
                </a:solidFill>
                <a:latin typeface="Lora" pitchFamily="34" charset="0"/>
                <a:ea typeface="Lora" pitchFamily="34" charset="-122"/>
                <a:cs typeface="Lora" pitchFamily="34" charset="-120"/>
              </a:rPr>
              <a:t>Create your account</a:t>
            </a:r>
            <a:endParaRPr lang="en-US" sz="4500" dirty="0"/>
          </a:p>
        </p:txBody>
      </p:sp>
      <p:sp>
        <p:nvSpPr>
          <p:cNvPr id="6" name="Shape 4"/>
          <p:cNvSpPr/>
          <p:nvPr/>
        </p:nvSpPr>
        <p:spPr>
          <a:xfrm>
            <a:off x="1047750" y="5259660"/>
            <a:ext cx="381000" cy="381000"/>
          </a:xfrm>
          <a:prstGeom prst="ellipse">
            <a:avLst/>
          </a:prstGeom>
          <a:solidFill>
            <a:srgbClr val="E4E9F5"/>
          </a:solidFill>
          <a:ln/>
        </p:spPr>
      </p:sp>
      <p:sp>
        <p:nvSpPr>
          <p:cNvPr id="7" name="Text 5"/>
          <p:cNvSpPr/>
          <p:nvPr/>
        </p:nvSpPr>
        <p:spPr>
          <a:xfrm>
            <a:off x="1009650" y="5259660"/>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4A60A8"/>
                </a:solidFill>
                <a:latin typeface="Inter" pitchFamily="34" charset="0"/>
                <a:ea typeface="Inter" pitchFamily="34" charset="-122"/>
                <a:cs typeface="Inter" pitchFamily="34" charset="-120"/>
              </a:rPr>
              <a:t>1</a:t>
            </a:r>
            <a:endParaRPr lang="en-US" sz="1500" dirty="0"/>
          </a:p>
        </p:txBody>
      </p:sp>
      <p:sp>
        <p:nvSpPr>
          <p:cNvPr id="8" name="Text 6"/>
          <p:cNvSpPr/>
          <p:nvPr/>
        </p:nvSpPr>
        <p:spPr>
          <a:xfrm>
            <a:off x="1600200" y="5297760"/>
            <a:ext cx="4619759" cy="384795"/>
          </a:xfrm>
          <a:prstGeom prst="rect">
            <a:avLst/>
          </a:prstGeom>
          <a:noFill/>
          <a:ln/>
        </p:spPr>
        <p:txBody>
          <a:bodyPr wrap="square" lIns="25400" tIns="25400" rIns="25400" bIns="25400" rtlCol="0" anchor="t">
            <a:normAutofit/>
          </a:bodyPr>
          <a:lstStyle/>
          <a:p>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Go to </a:t>
            </a:r>
            <a:pPr algn="l" indent="0" marL="0">
              <a:lnSpc>
                <a:spcPct val="115556"/>
              </a:lnSpc>
              <a:buNone/>
            </a:pPr>
            <a:r>
              <a:rPr lang="en-US" sz="1950" b="1" dirty="0">
                <a:solidFill>
                  <a:srgbClr val="1E2D4D"/>
                </a:solidFill>
                <a:latin typeface="Inter" pitchFamily="34" charset="0"/>
                <a:ea typeface="Inter" pitchFamily="34" charset="-122"/>
                <a:cs typeface="Inter" pitchFamily="34" charset="-120"/>
              </a:rPr>
              <a:t>offerloop.ai </a:t>
            </a:r>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and click </a:t>
            </a:r>
            <a:pPr algn="l" indent="0" marL="0">
              <a:lnSpc>
                <a:spcPct val="115556"/>
              </a:lnSpc>
              <a:buNone/>
            </a:pPr>
            <a:r>
              <a:rPr lang="en-US" sz="1950" b="1" dirty="0">
                <a:solidFill>
                  <a:srgbClr val="1E2D4D"/>
                </a:solidFill>
                <a:latin typeface="Inter" pitchFamily="34" charset="0"/>
                <a:ea typeface="Inter" pitchFamily="34" charset="-122"/>
                <a:cs typeface="Inter" pitchFamily="34" charset="-120"/>
              </a:rPr>
              <a:t>Sign up</a:t>
            </a:r>
            <a:endParaRPr lang="en-US" sz="1950" dirty="0"/>
          </a:p>
        </p:txBody>
      </p:sp>
      <p:sp>
        <p:nvSpPr>
          <p:cNvPr id="9" name="Shape 7"/>
          <p:cNvSpPr/>
          <p:nvPr/>
        </p:nvSpPr>
        <p:spPr>
          <a:xfrm>
            <a:off x="1047750" y="5873055"/>
            <a:ext cx="381000" cy="381000"/>
          </a:xfrm>
          <a:prstGeom prst="ellipse">
            <a:avLst/>
          </a:prstGeom>
          <a:solidFill>
            <a:srgbClr val="E4E9F5"/>
          </a:solidFill>
          <a:ln/>
        </p:spPr>
      </p:sp>
      <p:sp>
        <p:nvSpPr>
          <p:cNvPr id="10" name="Text 8"/>
          <p:cNvSpPr/>
          <p:nvPr/>
        </p:nvSpPr>
        <p:spPr>
          <a:xfrm>
            <a:off x="1009650" y="5873055"/>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4A60A8"/>
                </a:solidFill>
                <a:latin typeface="Inter" pitchFamily="34" charset="0"/>
                <a:ea typeface="Inter" pitchFamily="34" charset="-122"/>
                <a:cs typeface="Inter" pitchFamily="34" charset="-120"/>
              </a:rPr>
              <a:t>2</a:t>
            </a:r>
            <a:endParaRPr lang="en-US" sz="1500" dirty="0"/>
          </a:p>
        </p:txBody>
      </p:sp>
      <p:sp>
        <p:nvSpPr>
          <p:cNvPr id="11" name="Text 9"/>
          <p:cNvSpPr/>
          <p:nvPr/>
        </p:nvSpPr>
        <p:spPr>
          <a:xfrm>
            <a:off x="1600200" y="5911155"/>
            <a:ext cx="5387072" cy="384795"/>
          </a:xfrm>
          <a:prstGeom prst="rect">
            <a:avLst/>
          </a:prstGeom>
          <a:noFill/>
          <a:ln/>
        </p:spPr>
        <p:txBody>
          <a:bodyPr wrap="square" lIns="25400" tIns="25400" rIns="25400" bIns="25400" rtlCol="0" anchor="t">
            <a:normAutofit/>
          </a:bodyPr>
          <a:lstStyle/>
          <a:p>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Use your </a:t>
            </a:r>
            <a:pPr algn="l" indent="0" marL="0">
              <a:lnSpc>
                <a:spcPct val="115556"/>
              </a:lnSpc>
              <a:buNone/>
            </a:pPr>
            <a:r>
              <a:rPr lang="en-US" sz="1950" b="1" dirty="0">
                <a:solidFill>
                  <a:srgbClr val="1E2D4D"/>
                </a:solidFill>
                <a:latin typeface="Inter" pitchFamily="34" charset="0"/>
                <a:ea typeface="Inter" pitchFamily="34" charset="-122"/>
                <a:cs typeface="Inter" pitchFamily="34" charset="-120"/>
              </a:rPr>
              <a:t>school email </a:t>
            </a:r>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and connect Gmail</a:t>
            </a:r>
            <a:endParaRPr lang="en-US" sz="1950" dirty="0"/>
          </a:p>
        </p:txBody>
      </p:sp>
      <p:sp>
        <p:nvSpPr>
          <p:cNvPr id="12" name="Shape 10"/>
          <p:cNvSpPr/>
          <p:nvPr/>
        </p:nvSpPr>
        <p:spPr>
          <a:xfrm>
            <a:off x="1047750" y="6486451"/>
            <a:ext cx="381000" cy="381000"/>
          </a:xfrm>
          <a:prstGeom prst="ellipse">
            <a:avLst/>
          </a:prstGeom>
          <a:solidFill>
            <a:srgbClr val="E4E9F5"/>
          </a:solidFill>
          <a:ln/>
        </p:spPr>
      </p:sp>
      <p:sp>
        <p:nvSpPr>
          <p:cNvPr id="13" name="Text 11"/>
          <p:cNvSpPr/>
          <p:nvPr/>
        </p:nvSpPr>
        <p:spPr>
          <a:xfrm>
            <a:off x="1009650" y="6486451"/>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4A60A8"/>
                </a:solidFill>
                <a:latin typeface="Inter" pitchFamily="34" charset="0"/>
                <a:ea typeface="Inter" pitchFamily="34" charset="-122"/>
                <a:cs typeface="Inter" pitchFamily="34" charset="-120"/>
              </a:rPr>
              <a:t>3</a:t>
            </a:r>
            <a:endParaRPr lang="en-US" sz="1500" dirty="0"/>
          </a:p>
        </p:txBody>
      </p:sp>
      <p:sp>
        <p:nvSpPr>
          <p:cNvPr id="14" name="Text 12"/>
          <p:cNvSpPr/>
          <p:nvPr/>
        </p:nvSpPr>
        <p:spPr>
          <a:xfrm>
            <a:off x="1600200" y="6524551"/>
            <a:ext cx="4939159" cy="384795"/>
          </a:xfrm>
          <a:prstGeom prst="rect">
            <a:avLst/>
          </a:prstGeom>
          <a:noFill/>
          <a:ln/>
        </p:spPr>
        <p:txBody>
          <a:bodyPr wrap="square" lIns="25400" tIns="25400" rIns="25400" bIns="25400" rtlCol="0" anchor="t">
            <a:normAutofit/>
          </a:bodyPr>
          <a:lstStyle/>
          <a:p>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You're in, </a:t>
            </a:r>
            <a:pPr algn="l" indent="0" marL="0">
              <a:lnSpc>
                <a:spcPct val="115556"/>
              </a:lnSpc>
              <a:buNone/>
            </a:pPr>
            <a:r>
              <a:rPr lang="en-US" sz="1950" b="1" dirty="0">
                <a:solidFill>
                  <a:srgbClr val="1E2D4D"/>
                </a:solidFill>
                <a:latin typeface="Inter" pitchFamily="34" charset="0"/>
                <a:ea typeface="Inter" pitchFamily="34" charset="-122"/>
                <a:cs typeface="Inter" pitchFamily="34" charset="-120"/>
              </a:rPr>
              <a:t>free to start. </a:t>
            </a:r>
            <a:pPr algn="l" indent="0" marL="0">
              <a:lnSpc>
                <a:spcPct val="115556"/>
              </a:lnSpc>
              <a:buNone/>
            </a:pPr>
            <a:r>
              <a:rPr lang="en-US" sz="1950" dirty="0">
                <a:solidFill>
                  <a:srgbClr val="0A0A0A"/>
                </a:solidFill>
                <a:latin typeface="Inter" pitchFamily="34" charset="0"/>
                <a:ea typeface="Inter" pitchFamily="34" charset="-122"/>
                <a:cs typeface="Inter" pitchFamily="34" charset="-120"/>
              </a:rPr>
              <a:t>Say hi to Scout</a:t>
            </a:r>
            <a:endParaRPr lang="en-US" sz="1950" dirty="0"/>
          </a:p>
        </p:txBody>
      </p:sp>
      <p:sp>
        <p:nvSpPr>
          <p:cNvPr id="15" name="Shape 13"/>
          <p:cNvSpPr/>
          <p:nvPr/>
        </p:nvSpPr>
        <p:spPr>
          <a:xfrm>
            <a:off x="12698685" y="3517106"/>
            <a:ext cx="2819400" cy="2819400"/>
          </a:xfrm>
          <a:prstGeom prst="roundRect">
            <a:avLst>
              <a:gd name="adj" fmla="val 5405"/>
            </a:avLst>
          </a:prstGeom>
          <a:solidFill>
            <a:srgbClr val="FFFFFF"/>
          </a:solidFill>
          <a:ln w="28575">
            <a:solidFill>
              <a:srgbClr val="D4CEC7"/>
            </a:solidFill>
            <a:prstDash val="dash"/>
          </a:ln>
          <a:effectLst>
            <a:outerShdw sx="100000" sy="100000" kx="0" ky="0" algn="bl" rotWithShape="0" blurRad="152400" dist="38100" dir="5400000">
              <a:srgbClr val="1A1A1A">
                <a:alpha val="6000"/>
              </a:srgbClr>
            </a:outerShdw>
          </a:effectLst>
        </p:spPr>
      </p:sp>
      <p:pic>
        <p:nvPicPr>
          <p:cNvPr id="16" name="Image 0" descr="preencoded.png">    </p:cNvPr>
          <p:cNvPicPr>
            <a:picLocks noChangeAspect="1"/>
          </p:cNvPicPr>
          <p:nvPr/>
        </p:nvPicPr>
        <p:blipFill>
          <a:blip r:embed="rId1">
            <a:alphaModFix amt="50000"/>
          </a:blip>
          <a:stretch>
            <a:fillRect/>
          </a:stretch>
        </p:blipFill>
        <p:spPr>
          <a:xfrm>
            <a:off x="13902705" y="4502944"/>
            <a:ext cx="411287" cy="495300"/>
          </a:xfrm>
          <a:prstGeom prst="rect">
            <a:avLst/>
          </a:prstGeom>
        </p:spPr>
      </p:pic>
      <p:sp>
        <p:nvSpPr>
          <p:cNvPr id="17" name="Text 14"/>
          <p:cNvSpPr/>
          <p:nvPr/>
        </p:nvSpPr>
        <p:spPr>
          <a:xfrm>
            <a:off x="13636898" y="5131594"/>
            <a:ext cx="1019175" cy="257175"/>
          </a:xfrm>
          <a:prstGeom prst="rect">
            <a:avLst/>
          </a:prstGeom>
          <a:noFill/>
          <a:ln/>
        </p:spPr>
        <p:txBody>
          <a:bodyPr wrap="square" lIns="25400" tIns="25400" rIns="25400" bIns="25400" rtlCol="0" anchor="t">
            <a:normAutofit/>
          </a:bodyPr>
          <a:lstStyle/>
          <a:p>
            <a:pPr algn="l" indent="0" marL="0">
              <a:buNone/>
            </a:pPr>
            <a:r>
              <a:rPr lang="en-US" sz="1425" b="1" spc="142" kern="0" dirty="0">
                <a:solidFill>
                  <a:srgbClr val="94A3B8"/>
                </a:solidFill>
                <a:latin typeface="Inter" pitchFamily="34" charset="0"/>
                <a:ea typeface="Inter" pitchFamily="34" charset="-122"/>
                <a:cs typeface="Inter" pitchFamily="34" charset="-120"/>
              </a:rPr>
              <a:t>QR CODE</a:t>
            </a:r>
            <a:endParaRPr lang="en-US" sz="1425" dirty="0"/>
          </a:p>
        </p:txBody>
      </p:sp>
      <p:sp>
        <p:nvSpPr>
          <p:cNvPr id="18" name="Text 15"/>
          <p:cNvSpPr/>
          <p:nvPr/>
        </p:nvSpPr>
        <p:spPr>
          <a:xfrm>
            <a:off x="12520307" y="6527006"/>
            <a:ext cx="3176156" cy="280988"/>
          </a:xfrm>
          <a:prstGeom prst="rect">
            <a:avLst/>
          </a:prstGeom>
          <a:noFill/>
          <a:ln/>
        </p:spPr>
        <p:txBody>
          <a:bodyPr wrap="square" lIns="25400" tIns="25400" rIns="25400" bIns="25400" rtlCol="0" anchor="t">
            <a:normAutofit/>
          </a:bodyPr>
          <a:lstStyle/>
          <a:p>
            <a:pPr algn="ctr" indent="0" marL="0">
              <a:buNone/>
            </a:pPr>
            <a:r>
              <a:rPr lang="en-US" sz="1575" b="1" dirty="0">
                <a:solidFill>
                  <a:srgbClr val="1E2D4D"/>
                </a:solidFill>
                <a:latin typeface="Inter" pitchFamily="34" charset="0"/>
                <a:ea typeface="Inter" pitchFamily="34" charset="-122"/>
                <a:cs typeface="Inter" pitchFamily="34" charset="-120"/>
              </a:rPr>
              <a:t>Scan to sign up at offerloop.ai</a:t>
            </a:r>
            <a:endParaRPr lang="en-US" sz="15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1047750" y="3581921"/>
            <a:ext cx="9991442" cy="216173"/>
          </a:xfrm>
          <a:prstGeom prst="rect">
            <a:avLst/>
          </a:prstGeom>
          <a:noFill/>
          <a:ln/>
        </p:spPr>
        <p:txBody>
          <a:bodyPr wrap="square" lIns="25400" tIns="25400" rIns="25400" bIns="25400" rtlCol="0" anchor="t">
            <a:normAutofit/>
          </a:bodyPr>
          <a:lstStyle/>
          <a:p>
            <a:pPr algn="l" indent="0" marL="0">
              <a:lnSpc>
                <a:spcPct val="91220"/>
              </a:lnSpc>
              <a:buNone/>
            </a:pPr>
            <a:r>
              <a:rPr lang="en-US" sz="1275" b="1" spc="127" kern="0" dirty="0">
                <a:solidFill>
                  <a:srgbClr val="E07A3E"/>
                </a:solidFill>
                <a:latin typeface="Inter" pitchFamily="34" charset="0"/>
                <a:ea typeface="Inter" pitchFamily="34" charset="-122"/>
                <a:cs typeface="Inter" pitchFamily="34" charset="-120"/>
              </a:rPr>
              <a:t>WATCH IT WORK</a:t>
            </a:r>
            <a:endParaRPr lang="en-US" sz="1275" dirty="0"/>
          </a:p>
        </p:txBody>
      </p:sp>
      <p:sp>
        <p:nvSpPr>
          <p:cNvPr id="3" name="Text 1"/>
          <p:cNvSpPr/>
          <p:nvPr/>
        </p:nvSpPr>
        <p:spPr>
          <a:xfrm>
            <a:off x="1047750" y="4007644"/>
            <a:ext cx="9991442" cy="678135"/>
          </a:xfrm>
          <a:prstGeom prst="rect">
            <a:avLst/>
          </a:prstGeom>
          <a:noFill/>
          <a:ln/>
        </p:spPr>
        <p:txBody>
          <a:bodyPr wrap="square" lIns="25400" tIns="25400" rIns="25400" bIns="25400" rtlCol="0" anchor="t">
            <a:normAutofit/>
          </a:bodyPr>
          <a:lstStyle/>
          <a:p>
            <a:pPr algn="l" indent="0" marL="0">
              <a:lnSpc>
                <a:spcPct val="81951"/>
              </a:lnSpc>
              <a:buNone/>
            </a:pPr>
            <a:r>
              <a:rPr lang="en-US" sz="4800" b="1" spc="-96" kern="0" dirty="0">
                <a:solidFill>
                  <a:srgbClr val="FFFFFF"/>
                </a:solidFill>
                <a:latin typeface="Lora" pitchFamily="34" charset="0"/>
                <a:ea typeface="Lora" pitchFamily="34" charset="-122"/>
                <a:cs typeface="Lora" pitchFamily="34" charset="-120"/>
              </a:rPr>
              <a:t>Now the fun part, </a:t>
            </a:r>
            <a:pPr algn="l" indent="0" marL="0">
              <a:lnSpc>
                <a:spcPct val="81951"/>
              </a:lnSpc>
              <a:buNone/>
            </a:pPr>
            <a:r>
              <a:rPr lang="en-US" sz="4800" b="1" i="1" spc="-96" kern="0" dirty="0">
                <a:solidFill>
                  <a:srgbClr val="9CB2E8"/>
                </a:solidFill>
                <a:latin typeface="Lora" pitchFamily="34" charset="0"/>
                <a:ea typeface="Lora" pitchFamily="34" charset="-122"/>
                <a:cs typeface="Lora" pitchFamily="34" charset="-120"/>
              </a:rPr>
              <a:t>do it with me.</a:t>
            </a:r>
            <a:endParaRPr lang="en-US" sz="4800" dirty="0"/>
          </a:p>
        </p:txBody>
      </p:sp>
      <p:sp>
        <p:nvSpPr>
          <p:cNvPr id="4" name="Shape 2"/>
          <p:cNvSpPr/>
          <p:nvPr/>
        </p:nvSpPr>
        <p:spPr>
          <a:xfrm>
            <a:off x="1047750" y="5028679"/>
            <a:ext cx="419100" cy="419100"/>
          </a:xfrm>
          <a:prstGeom prst="ellipse">
            <a:avLst/>
          </a:prstGeom>
          <a:solidFill>
            <a:srgbClr val="9CB2E8">
              <a:alpha val="20000"/>
            </a:srgbClr>
          </a:solidFill>
          <a:ln/>
        </p:spPr>
      </p:sp>
      <p:sp>
        <p:nvSpPr>
          <p:cNvPr id="5" name="Text 3"/>
          <p:cNvSpPr/>
          <p:nvPr/>
        </p:nvSpPr>
        <p:spPr>
          <a:xfrm>
            <a:off x="1009650" y="5028679"/>
            <a:ext cx="495300" cy="457200"/>
          </a:xfrm>
          <a:prstGeom prst="rect">
            <a:avLst/>
          </a:prstGeom>
          <a:noFill/>
          <a:ln/>
        </p:spPr>
        <p:txBody>
          <a:bodyPr wrap="square" lIns="25400" tIns="25400" rIns="25400" bIns="25400" rtlCol="0" anchor="ctr">
            <a:normAutofit/>
          </a:bodyPr>
          <a:lstStyle/>
          <a:p>
            <a:pPr algn="ctr" indent="0" marL="0">
              <a:buNone/>
            </a:pPr>
            <a:r>
              <a:rPr lang="en-US" sz="1500" b="1" dirty="0">
                <a:solidFill>
                  <a:srgbClr val="9CB2E8"/>
                </a:solidFill>
                <a:latin typeface="Lora" pitchFamily="34" charset="0"/>
                <a:ea typeface="Lora" pitchFamily="34" charset="-122"/>
                <a:cs typeface="Lora" pitchFamily="34" charset="-120"/>
              </a:rPr>
              <a:t>1</a:t>
            </a:r>
            <a:endParaRPr lang="en-US" sz="1500" dirty="0"/>
          </a:p>
        </p:txBody>
      </p:sp>
      <p:sp>
        <p:nvSpPr>
          <p:cNvPr id="6" name="Text 4"/>
          <p:cNvSpPr/>
          <p:nvPr/>
        </p:nvSpPr>
        <p:spPr>
          <a:xfrm>
            <a:off x="1638300" y="5088210"/>
            <a:ext cx="5452556" cy="33813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Capture </a:t>
            </a:r>
            <a:pPr algn="l" indent="0" marL="0">
              <a:buNone/>
            </a:pPr>
            <a:r>
              <a:rPr lang="en-US" sz="1950" dirty="0">
                <a:solidFill>
                  <a:srgbClr val="FFFFFF">
                    <a:alpha val="90000"/>
                  </a:srgbClr>
                </a:solidFill>
                <a:latin typeface="Inter" pitchFamily="34" charset="0"/>
                <a:ea typeface="Inter" pitchFamily="34" charset="-122"/>
                <a:cs typeface="Inter" pitchFamily="34" charset="-120"/>
              </a:rPr>
              <a:t>a contact from a profile, one click</a:t>
            </a:r>
            <a:endParaRPr lang="en-US" sz="1950" dirty="0"/>
          </a:p>
        </p:txBody>
      </p:sp>
      <p:sp>
        <p:nvSpPr>
          <p:cNvPr id="7" name="Shape 5"/>
          <p:cNvSpPr/>
          <p:nvPr/>
        </p:nvSpPr>
        <p:spPr>
          <a:xfrm>
            <a:off x="1047750" y="5657329"/>
            <a:ext cx="419100" cy="419100"/>
          </a:xfrm>
          <a:prstGeom prst="ellipse">
            <a:avLst/>
          </a:prstGeom>
          <a:solidFill>
            <a:srgbClr val="9CB2E8">
              <a:alpha val="20000"/>
            </a:srgbClr>
          </a:solidFill>
          <a:ln/>
        </p:spPr>
      </p:sp>
      <p:sp>
        <p:nvSpPr>
          <p:cNvPr id="8" name="Text 6"/>
          <p:cNvSpPr/>
          <p:nvPr/>
        </p:nvSpPr>
        <p:spPr>
          <a:xfrm>
            <a:off x="1009650" y="5657329"/>
            <a:ext cx="495300" cy="457200"/>
          </a:xfrm>
          <a:prstGeom prst="rect">
            <a:avLst/>
          </a:prstGeom>
          <a:noFill/>
          <a:ln/>
        </p:spPr>
        <p:txBody>
          <a:bodyPr wrap="square" lIns="25400" tIns="25400" rIns="25400" bIns="25400" rtlCol="0" anchor="ctr">
            <a:normAutofit/>
          </a:bodyPr>
          <a:lstStyle/>
          <a:p>
            <a:pPr algn="ctr" indent="0" marL="0">
              <a:buNone/>
            </a:pPr>
            <a:r>
              <a:rPr lang="en-US" sz="1500" b="1" dirty="0">
                <a:solidFill>
                  <a:srgbClr val="9CB2E8"/>
                </a:solidFill>
                <a:latin typeface="Lora" pitchFamily="34" charset="0"/>
                <a:ea typeface="Lora" pitchFamily="34" charset="-122"/>
                <a:cs typeface="Lora" pitchFamily="34" charset="-120"/>
              </a:rPr>
              <a:t>2</a:t>
            </a:r>
            <a:endParaRPr lang="en-US" sz="1500" dirty="0"/>
          </a:p>
        </p:txBody>
      </p:sp>
      <p:sp>
        <p:nvSpPr>
          <p:cNvPr id="9" name="Text 7"/>
          <p:cNvSpPr/>
          <p:nvPr/>
        </p:nvSpPr>
        <p:spPr>
          <a:xfrm>
            <a:off x="1638300" y="5716860"/>
            <a:ext cx="5101151" cy="33813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Draft </a:t>
            </a:r>
            <a:pPr algn="l" indent="0" marL="0">
              <a:buNone/>
            </a:pPr>
            <a:r>
              <a:rPr lang="en-US" sz="1950" dirty="0">
                <a:solidFill>
                  <a:srgbClr val="FFFFFF">
                    <a:alpha val="90000"/>
                  </a:srgbClr>
                </a:solidFill>
                <a:latin typeface="Inter" pitchFamily="34" charset="0"/>
                <a:ea typeface="Inter" pitchFamily="34" charset="-122"/>
                <a:cs typeface="Inter" pitchFamily="34" charset="-120"/>
              </a:rPr>
              <a:t>a personalized email in your voice</a:t>
            </a:r>
            <a:endParaRPr lang="en-US" sz="1950" dirty="0"/>
          </a:p>
        </p:txBody>
      </p:sp>
      <p:sp>
        <p:nvSpPr>
          <p:cNvPr id="10" name="Shape 8"/>
          <p:cNvSpPr/>
          <p:nvPr/>
        </p:nvSpPr>
        <p:spPr>
          <a:xfrm>
            <a:off x="1047750" y="6285979"/>
            <a:ext cx="419100" cy="419100"/>
          </a:xfrm>
          <a:prstGeom prst="ellipse">
            <a:avLst/>
          </a:prstGeom>
          <a:solidFill>
            <a:srgbClr val="9CB2E8">
              <a:alpha val="20000"/>
            </a:srgbClr>
          </a:solidFill>
          <a:ln/>
        </p:spPr>
      </p:sp>
      <p:sp>
        <p:nvSpPr>
          <p:cNvPr id="11" name="Text 9"/>
          <p:cNvSpPr/>
          <p:nvPr/>
        </p:nvSpPr>
        <p:spPr>
          <a:xfrm>
            <a:off x="1009650" y="6285979"/>
            <a:ext cx="495300" cy="457200"/>
          </a:xfrm>
          <a:prstGeom prst="rect">
            <a:avLst/>
          </a:prstGeom>
          <a:noFill/>
          <a:ln/>
        </p:spPr>
        <p:txBody>
          <a:bodyPr wrap="square" lIns="25400" tIns="25400" rIns="25400" bIns="25400" rtlCol="0" anchor="ctr">
            <a:normAutofit/>
          </a:bodyPr>
          <a:lstStyle/>
          <a:p>
            <a:pPr algn="ctr" indent="0" marL="0">
              <a:buNone/>
            </a:pPr>
            <a:r>
              <a:rPr lang="en-US" sz="1500" b="1" dirty="0">
                <a:solidFill>
                  <a:srgbClr val="9CB2E8"/>
                </a:solidFill>
                <a:latin typeface="Lora" pitchFamily="34" charset="0"/>
                <a:ea typeface="Lora" pitchFamily="34" charset="-122"/>
                <a:cs typeface="Lora" pitchFamily="34" charset="-120"/>
              </a:rPr>
              <a:t>3</a:t>
            </a:r>
            <a:endParaRPr lang="en-US" sz="1500" dirty="0"/>
          </a:p>
        </p:txBody>
      </p:sp>
      <p:sp>
        <p:nvSpPr>
          <p:cNvPr id="12" name="Text 10"/>
          <p:cNvSpPr/>
          <p:nvPr/>
        </p:nvSpPr>
        <p:spPr>
          <a:xfrm>
            <a:off x="1638300" y="6345510"/>
            <a:ext cx="4668954" cy="33813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Send </a:t>
            </a:r>
            <a:pPr algn="l" indent="0" marL="0">
              <a:buNone/>
            </a:pPr>
            <a:r>
              <a:rPr lang="en-US" sz="1950" dirty="0">
                <a:solidFill>
                  <a:srgbClr val="FFFFFF">
                    <a:alpha val="90000"/>
                  </a:srgbClr>
                </a:solidFill>
                <a:latin typeface="Inter" pitchFamily="34" charset="0"/>
                <a:ea typeface="Inter" pitchFamily="34" charset="-122"/>
                <a:cs typeface="Inter" pitchFamily="34" charset="-120"/>
              </a:rPr>
              <a:t>it via Gmail, then try it yourself</a:t>
            </a:r>
            <a:endParaRPr lang="en-US" sz="1950" dirty="0"/>
          </a:p>
        </p:txBody>
      </p:sp>
      <p:pic>
        <p:nvPicPr>
          <p:cNvPr id="13" name="Image 0" descr="preencoded.png">    </p:cNvPr>
          <p:cNvPicPr>
            <a:picLocks noChangeAspect="1"/>
          </p:cNvPicPr>
          <p:nvPr/>
        </p:nvPicPr>
        <p:blipFill>
          <a:blip r:embed="rId1"/>
          <a:stretch>
            <a:fillRect/>
          </a:stretch>
        </p:blipFill>
        <p:spPr>
          <a:xfrm>
            <a:off x="12100173" y="2476500"/>
            <a:ext cx="3551783" cy="533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2026-07-15T22:25:18Z</dcterms:created>
  <dcterms:modified xsi:type="dcterms:W3CDTF">2026-07-15T22:25:18Z</dcterms:modified>
</cp:coreProperties>
</file>